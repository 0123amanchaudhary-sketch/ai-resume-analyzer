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</p:sldIdLst>
  <p:sldSz cx="9144000" cy="5143500" type="screen16x9"/>
  <p:notesSz cx="5143500" cy="9144000"/>
  <p:embeddedFontLs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Roboto Slab" pitchFamily="2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D752E3-5005-1B36-FC52-8F26DCEC2FA6}" v="248" dt="2026-05-09T08:12:31.762"/>
    <p1510:client id="{EECD0A22-C5A0-4202-BE2E-22F94576EFEE}" v="174" dt="2026-05-08T17:23:19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F77ED69B-8FFD-147C-DA81-9DC302754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>
            <a:extLst>
              <a:ext uri="{FF2B5EF4-FFF2-40B4-BE49-F238E27FC236}">
                <a16:creationId xmlns:a16="http://schemas.microsoft.com/office/drawing/2014/main" id="{3A536A50-412C-D8F3-AFCF-8F155AE5F8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10:notes">
            <a:extLst>
              <a:ext uri="{FF2B5EF4-FFF2-40B4-BE49-F238E27FC236}">
                <a16:creationId xmlns:a16="http://schemas.microsoft.com/office/drawing/2014/main" id="{6E1A7EC9-9FC4-238F-7E45-1DE74F56A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:notes">
            <a:extLst>
              <a:ext uri="{FF2B5EF4-FFF2-40B4-BE49-F238E27FC236}">
                <a16:creationId xmlns:a16="http://schemas.microsoft.com/office/drawing/2014/main" id="{12C02EDC-3042-B0A6-8186-552B761CA9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8393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308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1"/>
            <a:ext cx="9144000" cy="104012"/>
          </a:xfrm>
          <a:prstGeom prst="rect">
            <a:avLst/>
          </a:prstGeom>
          <a:solidFill>
            <a:srgbClr val="C8960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013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140011"/>
              </p:ext>
            </p:extLst>
          </p:nvPr>
        </p:nvGraphicFramePr>
        <p:xfrm>
          <a:off x="0" y="99441"/>
          <a:ext cx="9144001" cy="5058506"/>
        </p:xfrm>
        <a:graphic>
          <a:graphicData uri="http://schemas.openxmlformats.org/drawingml/2006/table">
            <a:tbl>
              <a:tblPr/>
              <a:tblGrid>
                <a:gridCol w="2486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3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0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652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9543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 gridSpan="4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6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2745" algn="l" rtl="0" eaLnBrk="0">
                        <a:lnSpc>
                          <a:spcPct val="86000"/>
                        </a:lnSpc>
                      </a:pPr>
                      <a:r>
                        <a:rPr lang="en-US" sz="2700" b="1" kern="0" spc="-1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AI Resume Analyzer using NLP Techniques</a:t>
                      </a:r>
                      <a:endParaRPr lang="en-US" sz="2700" b="1" kern="0" spc="-2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9270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28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162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000" b="1" kern="0" spc="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Indian</a:t>
                      </a:r>
                      <a:r>
                        <a:rPr sz="1000" b="1" kern="0" spc="3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Institute</a:t>
                      </a:r>
                      <a:r>
                        <a:rPr sz="1000" b="1" kern="0" spc="3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of</a:t>
                      </a:r>
                      <a:r>
                        <a:rPr sz="1000" b="1" kern="0" spc="3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Technology</a:t>
                      </a:r>
                      <a:r>
                        <a:rPr sz="1000" b="1" kern="0" spc="3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Guwahati</a:t>
                      </a:r>
                      <a:endParaRPr sz="10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2560" algn="l" rtl="0" eaLnBrk="0">
                        <a:lnSpc>
                          <a:spcPct val="83000"/>
                        </a:lnSpc>
                        <a:spcBef>
                          <a:spcPts val="369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BSc.</a:t>
                      </a:r>
                      <a:r>
                        <a:rPr sz="900" kern="0" spc="8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(Hons.)</a:t>
                      </a:r>
                      <a:r>
                        <a:rPr sz="900" kern="0" spc="9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Data Science &amp; Artificial</a:t>
                      </a:r>
                      <a:r>
                        <a:rPr sz="900" kern="0" spc="9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Intelligenc</a:t>
                      </a:r>
                      <a:r>
                        <a:rPr sz="900" kern="0" spc="-2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</a:t>
                      </a:r>
                      <a:endParaRPr sz="9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835025" algn="l" rtl="0" eaLnBrk="0">
                        <a:lnSpc>
                          <a:spcPct val="83000"/>
                        </a:lnSpc>
                        <a:spcBef>
                          <a:spcPts val="245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Online</a:t>
                      </a:r>
                      <a:r>
                        <a:rPr sz="900" kern="0" spc="16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Degree</a:t>
                      </a:r>
                      <a:r>
                        <a:rPr sz="900" kern="0" spc="8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Programme</a:t>
                      </a:r>
                      <a:endParaRPr sz="9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5136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5775" algn="l" rtl="0" eaLnBrk="0">
                        <a:lnSpc>
                          <a:spcPct val="8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400" b="1" kern="0" spc="-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Student</a:t>
                      </a:r>
                      <a:r>
                        <a:rPr sz="1400" b="1" kern="0" spc="13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  <a:r>
                        <a:rPr sz="1400" b="1" kern="0" spc="13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endParaRPr sz="14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485775" algn="l" rtl="0" eaLnBrk="0">
                        <a:lnSpc>
                          <a:spcPct val="83000"/>
                        </a:lnSpc>
                        <a:spcBef>
                          <a:spcPts val="1286"/>
                        </a:spcBef>
                        <a:tabLst/>
                      </a:pPr>
                      <a:r>
                        <a:rPr sz="1400" b="1" kern="0" spc="-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Student</a:t>
                      </a:r>
                      <a:r>
                        <a:rPr sz="1400" b="1" kern="0" spc="9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ID</a:t>
                      </a:r>
                      <a:r>
                        <a:rPr sz="1400" b="1" kern="0" spc="13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endParaRPr sz="14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494030" algn="l" rtl="0" eaLnBrk="0">
                        <a:lnSpc>
                          <a:spcPct val="83000"/>
                        </a:lnSpc>
                        <a:spcBef>
                          <a:spcPts val="1286"/>
                        </a:spcBef>
                        <a:tabLst/>
                      </a:pPr>
                      <a:r>
                        <a:rPr sz="1400" b="1" kern="0" spc="-4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Email</a:t>
                      </a:r>
                      <a:r>
                        <a:rPr sz="1400" b="1" kern="0" spc="15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b="1" kern="0" spc="-4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ID</a:t>
                      </a:r>
                      <a:r>
                        <a:rPr sz="1400" b="1" kern="0" spc="14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b="1" kern="0" spc="-4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endParaRPr sz="14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494030" algn="l" rtl="0" eaLnBrk="0">
                        <a:lnSpc>
                          <a:spcPct val="83000"/>
                        </a:lnSpc>
                        <a:spcBef>
                          <a:spcPts val="1286"/>
                        </a:spcBef>
                        <a:tabLst/>
                      </a:pPr>
                      <a:r>
                        <a:rPr sz="1400" b="1" kern="0" spc="-3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Programme</a:t>
                      </a:r>
                      <a:r>
                        <a:rPr sz="1400" b="1" kern="0" spc="19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b="1" kern="0" spc="-3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endParaRPr sz="14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487680" algn="l" rtl="0" eaLnBrk="0">
                        <a:lnSpc>
                          <a:spcPct val="83000"/>
                        </a:lnSpc>
                        <a:spcBef>
                          <a:spcPts val="1286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Course Cod</a:t>
                      </a:r>
                      <a:r>
                        <a:rPr sz="1400" b="1" kern="0" spc="-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</a:t>
                      </a:r>
                      <a:r>
                        <a:rPr sz="1400" b="1" kern="0" spc="1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endParaRPr sz="14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487680" algn="l" rtl="0" eaLnBrk="0">
                        <a:lnSpc>
                          <a:spcPct val="83000"/>
                        </a:lnSpc>
                        <a:spcBef>
                          <a:spcPts val="1287"/>
                        </a:spcBef>
                        <a:tabLst/>
                      </a:pPr>
                      <a:r>
                        <a:rPr sz="1400" b="1" kern="0" spc="-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Course</a:t>
                      </a:r>
                      <a:r>
                        <a:rPr sz="1400" b="1" kern="0" spc="9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Nam</a:t>
                      </a:r>
                      <a:r>
                        <a:rPr sz="1400" b="1" kern="0" spc="-3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</a:t>
                      </a:r>
                      <a:r>
                        <a:rPr sz="1400" b="1" kern="0" spc="13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b="1" kern="0" spc="-3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endParaRPr sz="14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0060" algn="l" rtl="0" eaLnBrk="0">
                        <a:lnSpc>
                          <a:spcPct val="8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b="1" kern="0" spc="-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Trimester</a:t>
                      </a:r>
                      <a:r>
                        <a:rPr sz="1400" b="1" kern="0" spc="14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endParaRPr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1010" algn="l" rtl="0" eaLnBrk="0">
                        <a:lnSpc>
                          <a:spcPct val="83000"/>
                        </a:lnSpc>
                        <a:spcBef>
                          <a:spcPts val="6"/>
                        </a:spcBef>
                      </a:pPr>
                      <a:r>
                        <a:rPr lang="en-US" sz="1400" kern="0" spc="-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Aman Chaudhary</a:t>
                      </a:r>
                      <a:endParaRPr sz="14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461010" algn="l" rtl="0" eaLnBrk="0">
                        <a:lnSpc>
                          <a:spcPct val="83000"/>
                        </a:lnSpc>
                        <a:spcBef>
                          <a:spcPts val="1286"/>
                        </a:spcBef>
                      </a:pPr>
                      <a:r>
                        <a:rPr lang="en-US" sz="1400" kern="0" spc="-3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23035010651</a:t>
                      </a:r>
                      <a:endParaRPr lang="en-US" sz="14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461010" lvl="0" algn="l">
                        <a:lnSpc>
                          <a:spcPct val="83000"/>
                        </a:lnSpc>
                        <a:spcBef>
                          <a:spcPts val="1286"/>
                        </a:spcBef>
                        <a:buNone/>
                        <a:tabLst/>
                      </a:pPr>
                      <a:r>
                        <a:rPr lang="en-US" sz="1400" kern="0" spc="-3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aman.chaudhary@op.iitg.ac.in</a:t>
                      </a:r>
                      <a:endParaRPr lang="en-US" sz="1400" kern="0" spc="-4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459740" algn="l" rtl="0" eaLnBrk="0">
                        <a:lnSpc>
                          <a:spcPct val="83000"/>
                        </a:lnSpc>
                        <a:spcBef>
                          <a:spcPts val="1286"/>
                        </a:spcBef>
                      </a:pPr>
                      <a:r>
                        <a:rPr sz="1400" kern="0" spc="-2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BSc.</a:t>
                      </a:r>
                      <a:r>
                        <a:rPr sz="1400" kern="0" spc="15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(Hons.)</a:t>
                      </a:r>
                      <a:r>
                        <a:rPr sz="1400" kern="0" spc="17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Data Science &amp; AI</a:t>
                      </a:r>
                      <a:endParaRPr lang="en-US" sz="14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461010" lvl="0" algn="l" rtl="0">
                        <a:lnSpc>
                          <a:spcPts val="3078"/>
                        </a:lnSpc>
                        <a:buNone/>
                        <a:tabLst/>
                      </a:pPr>
                      <a:r>
                        <a:rPr lang="en-US" sz="1400" kern="0" spc="-3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 377</a:t>
                      </a:r>
                      <a:endParaRPr sz="1400" kern="0" spc="-30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461010" algn="l" rtl="0" eaLnBrk="0">
                        <a:lnSpc>
                          <a:spcPct val="83000"/>
                        </a:lnSpc>
                        <a:spcBef>
                          <a:spcPts val="1287"/>
                        </a:spcBef>
                      </a:pPr>
                      <a:r>
                        <a:rPr lang="en-US" sz="1400" kern="0" spc="-2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Term Project-1</a:t>
                      </a:r>
                      <a:endParaRPr sz="1400" kern="0" spc="-20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461010" lvl="0" algn="l">
                        <a:lnSpc>
                          <a:spcPct val="83000"/>
                        </a:lnSpc>
                        <a:spcBef>
                          <a:spcPts val="1287"/>
                        </a:spcBef>
                        <a:buNone/>
                        <a:tabLst/>
                      </a:pPr>
                      <a:r>
                        <a:rPr sz="1400" kern="0" spc="-2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VII</a:t>
                      </a:r>
                      <a:endParaRPr sz="1400" kern="0" spc="-3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586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95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0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95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0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195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0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0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95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" y="328041"/>
            <a:ext cx="2276856" cy="2235708"/>
          </a:xfrm>
          <a:prstGeom prst="rect">
            <a:avLst/>
          </a:prstGeom>
        </p:spPr>
      </p:pic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2737485" y="309752"/>
          <a:ext cx="2295049" cy="349091"/>
        </p:xfrm>
        <a:graphic>
          <a:graphicData uri="http://schemas.openxmlformats.org/drawingml/2006/table">
            <a:tbl>
              <a:tblPr>
                <a:solidFill>
                  <a:srgbClr val="C8960C"/>
                </a:solidFill>
              </a:tblPr>
              <a:tblGrid>
                <a:gridCol w="2295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9091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2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31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1100" b="1" kern="0" spc="3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INTERNSHIP/TERM</a:t>
                      </a:r>
                      <a:r>
                        <a:rPr sz="1100" b="1" kern="0" spc="17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100" b="1" kern="0" spc="3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PROJECT</a:t>
                      </a:r>
                      <a:endParaRPr sz="1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273177" y="3384424"/>
            <a:ext cx="2007108" cy="45719"/>
            <a:chOff x="0" y="0"/>
            <a:chExt cx="2676144" cy="60959"/>
          </a:xfrm>
        </p:grpSpPr>
        <p:sp>
          <p:nvSpPr>
            <p:cNvPr id="10" name="path 10"/>
            <p:cNvSpPr/>
            <p:nvPr/>
          </p:nvSpPr>
          <p:spPr>
            <a:xfrm>
              <a:off x="6095" y="6095"/>
              <a:ext cx="2663952" cy="48767"/>
            </a:xfrm>
            <a:custGeom>
              <a:avLst/>
              <a:gdLst/>
              <a:ahLst/>
              <a:cxnLst/>
              <a:rect l="0" t="0" r="0" b="0"/>
              <a:pathLst>
                <a:path w="4195" h="76">
                  <a:moveTo>
                    <a:pt x="0" y="76"/>
                  </a:moveTo>
                  <a:lnTo>
                    <a:pt x="4195" y="76"/>
                  </a:lnTo>
                  <a:lnTo>
                    <a:pt x="4195" y="0"/>
                  </a:lnTo>
                  <a:lnTo>
                    <a:pt x="0" y="0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C8960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013"/>
            </a:p>
          </p:txBody>
        </p:sp>
        <p:sp>
          <p:nvSpPr>
            <p:cNvPr id="12" name="path 12"/>
            <p:cNvSpPr/>
            <p:nvPr/>
          </p:nvSpPr>
          <p:spPr>
            <a:xfrm>
              <a:off x="0" y="0"/>
              <a:ext cx="2676144" cy="60959"/>
            </a:xfrm>
            <a:custGeom>
              <a:avLst/>
              <a:gdLst/>
              <a:ahLst/>
              <a:cxnLst/>
              <a:rect l="0" t="0" r="0" b="0"/>
              <a:pathLst>
                <a:path w="4214" h="95">
                  <a:moveTo>
                    <a:pt x="9" y="86"/>
                  </a:moveTo>
                  <a:lnTo>
                    <a:pt x="4204" y="86"/>
                  </a:lnTo>
                  <a:lnTo>
                    <a:pt x="4204" y="9"/>
                  </a:lnTo>
                  <a:lnTo>
                    <a:pt x="9" y="9"/>
                  </a:lnTo>
                  <a:lnTo>
                    <a:pt x="9" y="86"/>
                  </a:lnTo>
                  <a:close/>
                </a:path>
              </a:pathLst>
            </a:custGeom>
            <a:noFill/>
            <a:ln w="12192" cap="flat">
              <a:solidFill>
                <a:srgbClr val="C8960C"/>
              </a:solidFill>
              <a:prstDash val="solid"/>
              <a:round/>
            </a:ln>
          </p:spPr>
          <p:txBody>
            <a:bodyPr rtlCol="0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013"/>
            </a:p>
          </p:txBody>
        </p:sp>
      </p:grpSp>
    </p:spTree>
    <p:extLst>
      <p:ext uri="{BB962C8B-B14F-4D97-AF65-F5344CB8AC3E}">
        <p14:creationId xmlns:p14="http://schemas.microsoft.com/office/powerpoint/2010/main" val="4155557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3"/>
          <p:cNvSpPr/>
          <p:nvPr/>
        </p:nvSpPr>
        <p:spPr>
          <a:xfrm>
            <a:off x="3925119" y="1602507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2750"/>
              <a:buFont typeface="Roboto Slab"/>
              <a:buNone/>
            </a:pPr>
            <a:r>
              <a:rPr lang="en-US" sz="2750" b="0" i="0" u="none" strike="noStrike" cap="non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AI Resume Analyzer using NLP Techniques</a:t>
            </a:r>
            <a:endParaRPr sz="2750" b="0" i="0" u="none" strike="noStrike" cap="none"/>
          </a:p>
        </p:txBody>
      </p:sp>
      <p:sp>
        <p:nvSpPr>
          <p:cNvPr id="48" name="Google Shape;48;p13"/>
          <p:cNvSpPr/>
          <p:nvPr/>
        </p:nvSpPr>
        <p:spPr>
          <a:xfrm>
            <a:off x="3925119" y="2701082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An Intelligent System for Automated Resume Screening and Candidate Matching</a:t>
            </a:r>
            <a:endParaRPr sz="1100" b="0" i="0" u="none" strike="noStrike" cap="none"/>
          </a:p>
        </p:txBody>
      </p:sp>
      <p:sp>
        <p:nvSpPr>
          <p:cNvPr id="49" name="Google Shape;49;p13"/>
          <p:cNvSpPr/>
          <p:nvPr/>
        </p:nvSpPr>
        <p:spPr>
          <a:xfrm>
            <a:off x="3925119" y="3314179"/>
            <a:ext cx="472276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"/>
              <a:buNone/>
            </a:pPr>
            <a:r>
              <a:rPr lang="en-US" sz="1100" b="1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B.Sc. Data Science and AI</a:t>
            </a:r>
            <a:r>
              <a:rPr lang="en-US" sz="11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| IIT Guwahati</a:t>
            </a:r>
            <a:endParaRPr sz="1100" b="0" i="0" u="none" strike="noStrike" cap="non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>
            <a:off x="3925119" y="658044"/>
            <a:ext cx="3544119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2750"/>
              <a:buFont typeface="Roboto Slab"/>
              <a:buNone/>
            </a:pPr>
            <a:r>
              <a:rPr lang="en-US" sz="2750" b="0" i="0" u="none" strike="noStrike" cap="non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Project Overview</a:t>
            </a:r>
            <a:endParaRPr sz="2750" b="0" i="0" u="none" strike="noStrike" cap="none"/>
          </a:p>
        </p:txBody>
      </p:sp>
      <p:sp>
        <p:nvSpPr>
          <p:cNvPr id="57" name="Google Shape;57;p14"/>
          <p:cNvSpPr/>
          <p:nvPr/>
        </p:nvSpPr>
        <p:spPr>
          <a:xfrm>
            <a:off x="3925119" y="1455390"/>
            <a:ext cx="2126456" cy="265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1650"/>
              <a:buFont typeface="Roboto Slab"/>
              <a:buNone/>
            </a:pPr>
            <a:r>
              <a:rPr lang="en-US" sz="1650" b="0" i="0" u="none" strike="noStrike" cap="non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Background</a:t>
            </a:r>
            <a:endParaRPr sz="1650" b="0" i="0" u="none" strike="noStrike" cap="none"/>
          </a:p>
        </p:txBody>
      </p:sp>
      <p:sp>
        <p:nvSpPr>
          <p:cNvPr id="58" name="Google Shape;58;p14"/>
          <p:cNvSpPr/>
          <p:nvPr/>
        </p:nvSpPr>
        <p:spPr>
          <a:xfrm>
            <a:off x="3925119" y="1862956"/>
            <a:ext cx="2188443" cy="2494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Recruitment processes face significant challenges in manually reviewing hundreds of resumes for each position. Traditional screening methods are time-consuming, subjective, and prone to human bias. With the exponential growth of job applications, organizations need automated solutions to streamline the initial screening phase.</a:t>
            </a:r>
            <a:endParaRPr sz="1100" b="0" i="0" u="none" strike="noStrike" cap="none"/>
          </a:p>
        </p:txBody>
      </p:sp>
      <p:sp>
        <p:nvSpPr>
          <p:cNvPr id="59" name="Google Shape;59;p14"/>
          <p:cNvSpPr/>
          <p:nvPr/>
        </p:nvSpPr>
        <p:spPr>
          <a:xfrm>
            <a:off x="6464201" y="1455390"/>
            <a:ext cx="2126456" cy="265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1650"/>
              <a:buFont typeface="Roboto Slab"/>
              <a:buNone/>
            </a:pPr>
            <a:r>
              <a:rPr lang="en-US" sz="1650" b="0" i="0" u="none" strike="noStrike" cap="non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Problem Statement</a:t>
            </a:r>
            <a:endParaRPr sz="1650" b="0" i="0" u="none" strike="noStrike" cap="none"/>
          </a:p>
        </p:txBody>
      </p:sp>
      <p:sp>
        <p:nvSpPr>
          <p:cNvPr id="60" name="Google Shape;60;p14"/>
          <p:cNvSpPr/>
          <p:nvPr/>
        </p:nvSpPr>
        <p:spPr>
          <a:xfrm>
            <a:off x="6464201" y="1862956"/>
            <a:ext cx="2188443" cy="181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Current resume screening requires 6-8 hours per position, leading to delayed hiring cycles and inconsistent evaluation criteria. The lack of standardized matching algorithms results in qualified candidates being overlooked while less suitable applicants advance.</a:t>
            </a:r>
            <a:endParaRPr sz="1100" b="0" i="0" u="none" strike="noStrike" cap="non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480640" y="394841"/>
            <a:ext cx="3433390" cy="429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74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2700"/>
              <a:buFont typeface="Roboto Slab"/>
              <a:buNone/>
            </a:pPr>
            <a:r>
              <a:rPr lang="en-US" sz="2700" b="0" i="0" u="none" strike="noStrike" cap="non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Project Objectives</a:t>
            </a:r>
            <a:endParaRPr sz="2700" b="0" i="0" u="none" strike="noStrike" cap="none"/>
          </a:p>
        </p:txBody>
      </p:sp>
      <p:sp>
        <p:nvSpPr>
          <p:cNvPr id="67" name="Google Shape;67;p15"/>
          <p:cNvSpPr/>
          <p:nvPr/>
        </p:nvSpPr>
        <p:spPr>
          <a:xfrm>
            <a:off x="480640" y="1090017"/>
            <a:ext cx="4024833" cy="1762795"/>
          </a:xfrm>
          <a:prstGeom prst="roundRect">
            <a:avLst>
              <a:gd name="adj" fmla="val 1169"/>
            </a:avLst>
          </a:prstGeom>
          <a:solidFill>
            <a:srgbClr val="3F4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7934" y="1227311"/>
            <a:ext cx="411956" cy="411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193" y="1340569"/>
            <a:ext cx="185365" cy="18536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617934" y="1772245"/>
            <a:ext cx="1716658" cy="2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50"/>
              <a:buFont typeface="Roboto Slab"/>
              <a:buNone/>
            </a:pPr>
            <a:r>
              <a:rPr lang="en-US" sz="135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Precise Matching</a:t>
            </a:r>
            <a:endParaRPr sz="1350" b="0" i="0" u="none" strike="noStrike" cap="none"/>
          </a:p>
        </p:txBody>
      </p:sp>
      <p:sp>
        <p:nvSpPr>
          <p:cNvPr id="71" name="Google Shape;71;p15"/>
          <p:cNvSpPr/>
          <p:nvPr/>
        </p:nvSpPr>
        <p:spPr>
          <a:xfrm>
            <a:off x="617934" y="2066553"/>
            <a:ext cx="3750246" cy="64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50"/>
              <a:buFont typeface="Roboto"/>
              <a:buNone/>
            </a:pPr>
            <a:r>
              <a:rPr lang="en-US" sz="10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Develop an NLP-based system that accurately matches resume content with job requirements using semantic analysis and keyword extraction</a:t>
            </a:r>
            <a:endParaRPr sz="1050" b="0" i="0" u="none" strike="noStrike" cap="none"/>
          </a:p>
        </p:txBody>
      </p:sp>
      <p:sp>
        <p:nvSpPr>
          <p:cNvPr id="72" name="Google Shape;72;p15"/>
          <p:cNvSpPr/>
          <p:nvPr/>
        </p:nvSpPr>
        <p:spPr>
          <a:xfrm>
            <a:off x="4638452" y="1090017"/>
            <a:ext cx="4024908" cy="1762795"/>
          </a:xfrm>
          <a:prstGeom prst="roundRect">
            <a:avLst>
              <a:gd name="adj" fmla="val 1169"/>
            </a:avLst>
          </a:prstGeom>
          <a:solidFill>
            <a:srgbClr val="3F4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" name="Google Shape;73;p1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75746" y="1227311"/>
            <a:ext cx="411956" cy="411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89004" y="1340569"/>
            <a:ext cx="185365" cy="18536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/>
          <p:nvPr/>
        </p:nvSpPr>
        <p:spPr>
          <a:xfrm>
            <a:off x="4775746" y="1772245"/>
            <a:ext cx="1716658" cy="2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50"/>
              <a:buFont typeface="Roboto Slab"/>
              <a:buNone/>
            </a:pPr>
            <a:r>
              <a:rPr lang="en-US" sz="135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Efficiency</a:t>
            </a:r>
            <a:endParaRPr sz="1350" b="0" i="0" u="none" strike="noStrike" cap="none"/>
          </a:p>
        </p:txBody>
      </p:sp>
      <p:sp>
        <p:nvSpPr>
          <p:cNvPr id="76" name="Google Shape;76;p15"/>
          <p:cNvSpPr/>
          <p:nvPr/>
        </p:nvSpPr>
        <p:spPr>
          <a:xfrm>
            <a:off x="4775746" y="2066553"/>
            <a:ext cx="3750320" cy="64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50"/>
              <a:buFont typeface="Roboto"/>
              <a:buNone/>
            </a:pPr>
            <a:r>
              <a:rPr lang="en-US" sz="10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Reduce screening time from hours to seconds while maintaining or improving accuracy compared to manual review processes</a:t>
            </a:r>
            <a:endParaRPr sz="1050" b="0" i="0" u="none" strike="noStrike" cap="none"/>
          </a:p>
        </p:txBody>
      </p:sp>
      <p:sp>
        <p:nvSpPr>
          <p:cNvPr id="77" name="Google Shape;77;p15"/>
          <p:cNvSpPr/>
          <p:nvPr/>
        </p:nvSpPr>
        <p:spPr>
          <a:xfrm>
            <a:off x="480640" y="2985790"/>
            <a:ext cx="4024833" cy="1762795"/>
          </a:xfrm>
          <a:prstGeom prst="roundRect">
            <a:avLst>
              <a:gd name="adj" fmla="val 1169"/>
            </a:avLst>
          </a:prstGeom>
          <a:solidFill>
            <a:srgbClr val="3F4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" name="Google Shape;78;p1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7934" y="3123084"/>
            <a:ext cx="411956" cy="411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1193" y="3236342"/>
            <a:ext cx="185365" cy="18536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/>
          <p:nvPr/>
        </p:nvSpPr>
        <p:spPr>
          <a:xfrm>
            <a:off x="617934" y="3668018"/>
            <a:ext cx="1716658" cy="2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50"/>
              <a:buFont typeface="Roboto Slab"/>
              <a:buNone/>
            </a:pPr>
            <a:r>
              <a:rPr lang="en-US" sz="135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Intelligent Analysis</a:t>
            </a:r>
            <a:endParaRPr sz="1350" b="0" i="0" u="none" strike="noStrike" cap="none"/>
          </a:p>
        </p:txBody>
      </p:sp>
      <p:sp>
        <p:nvSpPr>
          <p:cNvPr id="81" name="Google Shape;81;p15"/>
          <p:cNvSpPr/>
          <p:nvPr/>
        </p:nvSpPr>
        <p:spPr>
          <a:xfrm>
            <a:off x="617934" y="3962326"/>
            <a:ext cx="3750246" cy="64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50"/>
              <a:buFont typeface="Roboto"/>
              <a:buNone/>
            </a:pPr>
            <a:r>
              <a:rPr lang="en-US" sz="10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Implement machine learning techniques to understand context, identify relevant skills, and evaluate candidate qualifications beyond simple keyword matching</a:t>
            </a:r>
            <a:endParaRPr sz="1050" b="0" i="0" u="none" strike="noStrike" cap="none"/>
          </a:p>
        </p:txBody>
      </p:sp>
      <p:sp>
        <p:nvSpPr>
          <p:cNvPr id="82" name="Google Shape;82;p15"/>
          <p:cNvSpPr/>
          <p:nvPr/>
        </p:nvSpPr>
        <p:spPr>
          <a:xfrm>
            <a:off x="4638452" y="2985790"/>
            <a:ext cx="4024908" cy="1762795"/>
          </a:xfrm>
          <a:prstGeom prst="roundRect">
            <a:avLst>
              <a:gd name="adj" fmla="val 1169"/>
            </a:avLst>
          </a:prstGeom>
          <a:solidFill>
            <a:srgbClr val="3F4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" name="Google Shape;83;p1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75746" y="3123084"/>
            <a:ext cx="411956" cy="411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89004" y="3236342"/>
            <a:ext cx="185365" cy="18536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/>
          <p:nvPr/>
        </p:nvSpPr>
        <p:spPr>
          <a:xfrm>
            <a:off x="4775746" y="3668018"/>
            <a:ext cx="1716658" cy="2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50"/>
              <a:buFont typeface="Roboto Slab"/>
              <a:buNone/>
            </a:pPr>
            <a:r>
              <a:rPr lang="en-US" sz="135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Automation</a:t>
            </a:r>
            <a:endParaRPr sz="1350" b="0" i="0" u="none" strike="noStrike" cap="none"/>
          </a:p>
        </p:txBody>
      </p:sp>
      <p:sp>
        <p:nvSpPr>
          <p:cNvPr id="86" name="Google Shape;86;p15"/>
          <p:cNvSpPr/>
          <p:nvPr/>
        </p:nvSpPr>
        <p:spPr>
          <a:xfrm>
            <a:off x="4775746" y="3962326"/>
            <a:ext cx="3750320" cy="64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50"/>
              <a:buFont typeface="Roboto"/>
              <a:buNone/>
            </a:pPr>
            <a:r>
              <a:rPr lang="en-US" sz="10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Create a scalable system that can process multiple resumes simultaneously and provide ranked candidate lists with matching scores</a:t>
            </a:r>
            <a:endParaRPr sz="1050" b="0" i="0" u="none" strike="noStrike" cap="non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441871" y="368201"/>
            <a:ext cx="3156496" cy="394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530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2450"/>
              <a:buFont typeface="Roboto Slab"/>
              <a:buNone/>
            </a:pPr>
            <a:r>
              <a:rPr lang="en-US" sz="2450" b="0" i="0" u="none" strike="noStrike" cap="non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System Architecture</a:t>
            </a:r>
            <a:endParaRPr sz="2450" b="0" i="0" u="none" strike="noStrike" cap="none"/>
          </a:p>
        </p:txBody>
      </p:sp>
      <p:pic>
        <p:nvPicPr>
          <p:cNvPr id="93" name="Google Shape;93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871" y="987623"/>
            <a:ext cx="631254" cy="75753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/>
          <p:nvPr/>
        </p:nvSpPr>
        <p:spPr>
          <a:xfrm>
            <a:off x="1185565" y="1113830"/>
            <a:ext cx="1578248" cy="19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00"/>
              <a:buFont typeface="Roboto Slab"/>
              <a:buNone/>
            </a:pPr>
            <a:r>
              <a:rPr lang="en-US" sz="120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Data Ingestion</a:t>
            </a:r>
            <a:endParaRPr sz="1200" b="0" i="0" u="none" strike="noStrike" cap="none"/>
          </a:p>
        </p:txBody>
      </p:sp>
      <p:sp>
        <p:nvSpPr>
          <p:cNvPr id="95" name="Google Shape;95;p16"/>
          <p:cNvSpPr/>
          <p:nvPr/>
        </p:nvSpPr>
        <p:spPr>
          <a:xfrm>
            <a:off x="1185565" y="1378521"/>
            <a:ext cx="7516564" cy="190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50"/>
              <a:buFont typeface="Roboto"/>
              <a:buNone/>
            </a:pPr>
            <a:r>
              <a:rPr lang="en-US" sz="9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Resume parsing and document processing module</a:t>
            </a:r>
            <a:endParaRPr sz="950" b="0" i="0" u="none" strike="noStrike" cap="none"/>
          </a:p>
        </p:txBody>
      </p:sp>
      <p:pic>
        <p:nvPicPr>
          <p:cNvPr id="96" name="Google Shape;96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871" y="1745159"/>
            <a:ext cx="631254" cy="75753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/>
          <p:nvPr/>
        </p:nvSpPr>
        <p:spPr>
          <a:xfrm>
            <a:off x="1185565" y="1871365"/>
            <a:ext cx="1578248" cy="19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00"/>
              <a:buFont typeface="Roboto Slab"/>
              <a:buNone/>
            </a:pPr>
            <a:r>
              <a:rPr lang="en-US" sz="120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Preprocessing</a:t>
            </a:r>
            <a:endParaRPr sz="1200" b="0" i="0" u="none" strike="noStrike" cap="none"/>
          </a:p>
        </p:txBody>
      </p:sp>
      <p:sp>
        <p:nvSpPr>
          <p:cNvPr id="98" name="Google Shape;98;p16"/>
          <p:cNvSpPr/>
          <p:nvPr/>
        </p:nvSpPr>
        <p:spPr>
          <a:xfrm>
            <a:off x="1185565" y="2136056"/>
            <a:ext cx="7516564" cy="190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50"/>
              <a:buFont typeface="Roboto"/>
              <a:buNone/>
            </a:pPr>
            <a:r>
              <a:rPr lang="en-US" sz="9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Cleaning, normalization, and feature extraction</a:t>
            </a:r>
            <a:endParaRPr sz="950" b="0" i="0" u="none" strike="noStrike" cap="none"/>
          </a:p>
        </p:txBody>
      </p:sp>
      <p:pic>
        <p:nvPicPr>
          <p:cNvPr id="99" name="Google Shape;99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871" y="2502694"/>
            <a:ext cx="631254" cy="75753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1185565" y="2628900"/>
            <a:ext cx="1578248" cy="19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00"/>
              <a:buFont typeface="Roboto Slab"/>
              <a:buNone/>
            </a:pPr>
            <a:r>
              <a:rPr lang="en-US" sz="120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NLP Engine</a:t>
            </a:r>
            <a:endParaRPr sz="1200" b="0" i="0" u="none" strike="noStrike" cap="none"/>
          </a:p>
        </p:txBody>
      </p:sp>
      <p:sp>
        <p:nvSpPr>
          <p:cNvPr id="101" name="Google Shape;101;p16"/>
          <p:cNvSpPr/>
          <p:nvPr/>
        </p:nvSpPr>
        <p:spPr>
          <a:xfrm>
            <a:off x="1185565" y="2893591"/>
            <a:ext cx="7516564" cy="190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50"/>
              <a:buFont typeface="Roboto"/>
              <a:buNone/>
            </a:pPr>
            <a:r>
              <a:rPr lang="en-US" sz="9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TF-IDF vectorization and semantic analysis</a:t>
            </a:r>
            <a:endParaRPr sz="950" b="0" i="0" u="none" strike="noStrike" cap="none"/>
          </a:p>
        </p:txBody>
      </p:sp>
      <p:pic>
        <p:nvPicPr>
          <p:cNvPr id="102" name="Google Shape;102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871" y="3260229"/>
            <a:ext cx="631254" cy="75753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/>
          <p:nvPr/>
        </p:nvSpPr>
        <p:spPr>
          <a:xfrm>
            <a:off x="1185565" y="3386435"/>
            <a:ext cx="1578248" cy="19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00"/>
              <a:buFont typeface="Roboto Slab"/>
              <a:buNone/>
            </a:pPr>
            <a:r>
              <a:rPr lang="en-US" sz="120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Matching</a:t>
            </a:r>
            <a:endParaRPr sz="1200" b="0" i="0" u="none" strike="noStrike" cap="none"/>
          </a:p>
        </p:txBody>
      </p:sp>
      <p:sp>
        <p:nvSpPr>
          <p:cNvPr id="104" name="Google Shape;104;p16"/>
          <p:cNvSpPr/>
          <p:nvPr/>
        </p:nvSpPr>
        <p:spPr>
          <a:xfrm>
            <a:off x="1185565" y="3651126"/>
            <a:ext cx="7516564" cy="190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50"/>
              <a:buFont typeface="Roboto"/>
              <a:buNone/>
            </a:pPr>
            <a:r>
              <a:rPr lang="en-US" sz="9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Cosine similarity scoring and ranking</a:t>
            </a:r>
            <a:endParaRPr sz="950" b="0" i="0" u="none" strike="noStrike" cap="none"/>
          </a:p>
        </p:txBody>
      </p:sp>
      <p:pic>
        <p:nvPicPr>
          <p:cNvPr id="105" name="Google Shape;105;p1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1871" y="4017764"/>
            <a:ext cx="631254" cy="75753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/>
          <p:nvPr/>
        </p:nvSpPr>
        <p:spPr>
          <a:xfrm>
            <a:off x="1185565" y="4143970"/>
            <a:ext cx="1578248" cy="19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200"/>
              <a:buFont typeface="Roboto Slab"/>
              <a:buNone/>
            </a:pPr>
            <a:r>
              <a:rPr lang="en-US" sz="120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Output</a:t>
            </a:r>
            <a:endParaRPr sz="1200" b="0" i="0" u="none" strike="noStrike" cap="none"/>
          </a:p>
        </p:txBody>
      </p:sp>
      <p:sp>
        <p:nvSpPr>
          <p:cNvPr id="107" name="Google Shape;107;p16"/>
          <p:cNvSpPr/>
          <p:nvPr/>
        </p:nvSpPr>
        <p:spPr>
          <a:xfrm>
            <a:off x="1185565" y="4408661"/>
            <a:ext cx="7516564" cy="190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50"/>
              <a:buFont typeface="Roboto"/>
              <a:buNone/>
            </a:pPr>
            <a:r>
              <a:rPr lang="en-US" sz="9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Candidate scores and recommendations</a:t>
            </a:r>
            <a:endParaRPr sz="950" b="0" i="0" u="none" strike="noStrike" cap="non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/>
          <p:nvPr/>
        </p:nvSpPr>
        <p:spPr>
          <a:xfrm>
            <a:off x="598066" y="345504"/>
            <a:ext cx="3789759" cy="3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2250"/>
              <a:buFont typeface="Roboto Slab"/>
              <a:buNone/>
            </a:pPr>
            <a:r>
              <a:rPr lang="en-US" sz="2250" b="0" i="0" u="none" strike="noStrike" cap="non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Methodology and Workflow</a:t>
            </a:r>
            <a:endParaRPr sz="2250" b="0" i="0" u="none" strike="noStrike" cap="none"/>
          </a:p>
        </p:txBody>
      </p:sp>
      <p:sp>
        <p:nvSpPr>
          <p:cNvPr id="114" name="Google Shape;114;p17"/>
          <p:cNvSpPr/>
          <p:nvPr/>
        </p:nvSpPr>
        <p:spPr>
          <a:xfrm>
            <a:off x="4564782" y="892597"/>
            <a:ext cx="14288" cy="3905324"/>
          </a:xfrm>
          <a:prstGeom prst="roundRect">
            <a:avLst>
              <a:gd name="adj" fmla="val 120926"/>
            </a:avLst>
          </a:prstGeom>
          <a:solidFill>
            <a:srgbClr val="585F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4111154" y="1015008"/>
            <a:ext cx="345504" cy="14288"/>
          </a:xfrm>
          <a:prstGeom prst="roundRect">
            <a:avLst>
              <a:gd name="adj" fmla="val 120926"/>
            </a:avLst>
          </a:prstGeom>
          <a:solidFill>
            <a:srgbClr val="585F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4442371" y="892597"/>
            <a:ext cx="259110" cy="25911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4485568" y="914177"/>
            <a:ext cx="172715" cy="21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50"/>
              <a:buFont typeface="Roboto Slab"/>
              <a:buNone/>
            </a:pPr>
            <a:r>
              <a:rPr lang="en-US" sz="135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sz="1350" b="0" i="0" u="none" strike="noStrike" cap="none"/>
          </a:p>
        </p:txBody>
      </p:sp>
      <p:sp>
        <p:nvSpPr>
          <p:cNvPr id="118" name="Google Shape;118;p17"/>
          <p:cNvSpPr/>
          <p:nvPr/>
        </p:nvSpPr>
        <p:spPr>
          <a:xfrm>
            <a:off x="2556272" y="932185"/>
            <a:ext cx="1439763" cy="179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 Slab"/>
              <a:buNone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Resume Collection</a:t>
            </a:r>
            <a:endParaRPr sz="1100" b="0" i="0" u="none" strike="noStrike" cap="none"/>
          </a:p>
        </p:txBody>
      </p:sp>
      <p:sp>
        <p:nvSpPr>
          <p:cNvPr id="119" name="Google Shape;119;p17"/>
          <p:cNvSpPr/>
          <p:nvPr/>
        </p:nvSpPr>
        <p:spPr>
          <a:xfrm>
            <a:off x="598066" y="1168226"/>
            <a:ext cx="3397969" cy="333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Roboto"/>
              <a:buNone/>
            </a:pPr>
            <a:r>
              <a:rPr lang="en-US" sz="9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Gather candidate resumes in various formats (PDF, DOCX, TXT) and extract raw text content using document parsing libraries</a:t>
            </a:r>
            <a:endParaRPr sz="900" b="0" i="0" u="none" strike="noStrike" cap="none"/>
          </a:p>
        </p:txBody>
      </p:sp>
      <p:sp>
        <p:nvSpPr>
          <p:cNvPr id="120" name="Google Shape;120;p17"/>
          <p:cNvSpPr/>
          <p:nvPr/>
        </p:nvSpPr>
        <p:spPr>
          <a:xfrm>
            <a:off x="4687193" y="1662857"/>
            <a:ext cx="345504" cy="14288"/>
          </a:xfrm>
          <a:prstGeom prst="roundRect">
            <a:avLst>
              <a:gd name="adj" fmla="val 120926"/>
            </a:avLst>
          </a:prstGeom>
          <a:solidFill>
            <a:srgbClr val="585F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4442371" y="1540446"/>
            <a:ext cx="259110" cy="25911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4485568" y="1562026"/>
            <a:ext cx="172715" cy="21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50"/>
              <a:buFont typeface="Roboto Slab"/>
              <a:buNone/>
            </a:pPr>
            <a:r>
              <a:rPr lang="en-US" sz="135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sz="1350" b="0" i="0" u="none" strike="noStrike" cap="none"/>
          </a:p>
        </p:txBody>
      </p:sp>
      <p:sp>
        <p:nvSpPr>
          <p:cNvPr id="123" name="Google Shape;123;p17"/>
          <p:cNvSpPr/>
          <p:nvPr/>
        </p:nvSpPr>
        <p:spPr>
          <a:xfrm>
            <a:off x="5147816" y="1580034"/>
            <a:ext cx="1439763" cy="179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 Slab"/>
              <a:buNone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Text Preprocessing</a:t>
            </a:r>
            <a:endParaRPr sz="1100" b="0" i="0" u="none" strike="noStrike" cap="none"/>
          </a:p>
        </p:txBody>
      </p:sp>
      <p:sp>
        <p:nvSpPr>
          <p:cNvPr id="124" name="Google Shape;124;p17"/>
          <p:cNvSpPr/>
          <p:nvPr/>
        </p:nvSpPr>
        <p:spPr>
          <a:xfrm>
            <a:off x="5147816" y="1816075"/>
            <a:ext cx="3398044" cy="333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Roboto"/>
              <a:buNone/>
            </a:pPr>
            <a:r>
              <a:rPr lang="en-US" sz="9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Apply NLP techniques including tokenization, stop word removal, stemming, and lemmatization to clean and normalize text data</a:t>
            </a:r>
            <a:endParaRPr sz="900" b="0" i="0" u="none" strike="noStrike" cap="none"/>
          </a:p>
        </p:txBody>
      </p:sp>
      <p:sp>
        <p:nvSpPr>
          <p:cNvPr id="125" name="Google Shape;125;p17"/>
          <p:cNvSpPr/>
          <p:nvPr/>
        </p:nvSpPr>
        <p:spPr>
          <a:xfrm>
            <a:off x="4111154" y="2236961"/>
            <a:ext cx="345504" cy="14288"/>
          </a:xfrm>
          <a:prstGeom prst="roundRect">
            <a:avLst>
              <a:gd name="adj" fmla="val 120926"/>
            </a:avLst>
          </a:prstGeom>
          <a:solidFill>
            <a:srgbClr val="585F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4442371" y="2114550"/>
            <a:ext cx="259110" cy="25911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4485568" y="2136130"/>
            <a:ext cx="172715" cy="21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50"/>
              <a:buFont typeface="Roboto Slab"/>
              <a:buNone/>
            </a:pPr>
            <a:r>
              <a:rPr lang="en-US" sz="135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sz="1350" b="0" i="0" u="none" strike="noStrike" cap="none"/>
          </a:p>
        </p:txBody>
      </p:sp>
      <p:sp>
        <p:nvSpPr>
          <p:cNvPr id="128" name="Google Shape;128;p17"/>
          <p:cNvSpPr/>
          <p:nvPr/>
        </p:nvSpPr>
        <p:spPr>
          <a:xfrm>
            <a:off x="2556272" y="2154138"/>
            <a:ext cx="1439763" cy="179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 Slab"/>
              <a:buNone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Feature Extraction</a:t>
            </a:r>
            <a:endParaRPr sz="1100" b="0" i="0" u="none" strike="noStrike" cap="none"/>
          </a:p>
        </p:txBody>
      </p:sp>
      <p:sp>
        <p:nvSpPr>
          <p:cNvPr id="129" name="Google Shape;129;p17"/>
          <p:cNvSpPr/>
          <p:nvPr/>
        </p:nvSpPr>
        <p:spPr>
          <a:xfrm>
            <a:off x="598066" y="2390180"/>
            <a:ext cx="3397969" cy="500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Roboto"/>
              <a:buNone/>
            </a:pPr>
            <a:r>
              <a:rPr lang="en-US" sz="9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Identify and extract key entities such as skills, experience, education, and certifications using pattern matching and rule-based systems</a:t>
            </a:r>
            <a:endParaRPr sz="900" b="0" i="0" u="none" strike="noStrike" cap="none"/>
          </a:p>
        </p:txBody>
      </p:sp>
      <p:sp>
        <p:nvSpPr>
          <p:cNvPr id="130" name="Google Shape;130;p17"/>
          <p:cNvSpPr/>
          <p:nvPr/>
        </p:nvSpPr>
        <p:spPr>
          <a:xfrm>
            <a:off x="4687193" y="2811066"/>
            <a:ext cx="345504" cy="14288"/>
          </a:xfrm>
          <a:prstGeom prst="roundRect">
            <a:avLst>
              <a:gd name="adj" fmla="val 120926"/>
            </a:avLst>
          </a:prstGeom>
          <a:solidFill>
            <a:srgbClr val="585F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4442371" y="2688654"/>
            <a:ext cx="259110" cy="25911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4485568" y="2710235"/>
            <a:ext cx="172715" cy="21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50"/>
              <a:buFont typeface="Roboto Slab"/>
              <a:buNone/>
            </a:pPr>
            <a:r>
              <a:rPr lang="en-US" sz="135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sz="1350" b="0" i="0" u="none" strike="noStrike" cap="none"/>
          </a:p>
        </p:txBody>
      </p:sp>
      <p:sp>
        <p:nvSpPr>
          <p:cNvPr id="133" name="Google Shape;133;p17"/>
          <p:cNvSpPr/>
          <p:nvPr/>
        </p:nvSpPr>
        <p:spPr>
          <a:xfrm>
            <a:off x="5147816" y="2728243"/>
            <a:ext cx="1439763" cy="179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 Slab"/>
              <a:buNone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Vectorization</a:t>
            </a:r>
            <a:endParaRPr sz="1100" b="0" i="0" u="none" strike="noStrike" cap="none"/>
          </a:p>
        </p:txBody>
      </p:sp>
      <p:sp>
        <p:nvSpPr>
          <p:cNvPr id="134" name="Google Shape;134;p17"/>
          <p:cNvSpPr/>
          <p:nvPr/>
        </p:nvSpPr>
        <p:spPr>
          <a:xfrm>
            <a:off x="5147816" y="2964284"/>
            <a:ext cx="3398044" cy="333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Roboto"/>
              <a:buNone/>
            </a:pPr>
            <a:r>
              <a:rPr lang="en-US" sz="9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Convert processed text into numerical vectors using TF-IDF (Term Frequency-Inverse Document Frequency) weighting scheme</a:t>
            </a:r>
            <a:endParaRPr sz="900" b="0" i="0" u="none" strike="noStrike" cap="none"/>
          </a:p>
        </p:txBody>
      </p:sp>
      <p:sp>
        <p:nvSpPr>
          <p:cNvPr id="135" name="Google Shape;135;p17"/>
          <p:cNvSpPr/>
          <p:nvPr/>
        </p:nvSpPr>
        <p:spPr>
          <a:xfrm>
            <a:off x="4111154" y="3385170"/>
            <a:ext cx="345504" cy="14288"/>
          </a:xfrm>
          <a:prstGeom prst="roundRect">
            <a:avLst>
              <a:gd name="adj" fmla="val 120926"/>
            </a:avLst>
          </a:prstGeom>
          <a:solidFill>
            <a:srgbClr val="585F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4442371" y="3262759"/>
            <a:ext cx="259110" cy="25911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4485568" y="3284339"/>
            <a:ext cx="172715" cy="21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50"/>
              <a:buFont typeface="Roboto Slab"/>
              <a:buNone/>
            </a:pPr>
            <a:r>
              <a:rPr lang="en-US" sz="135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5</a:t>
            </a:r>
            <a:endParaRPr sz="1350" b="0" i="0" u="none" strike="noStrike" cap="none"/>
          </a:p>
        </p:txBody>
      </p:sp>
      <p:sp>
        <p:nvSpPr>
          <p:cNvPr id="138" name="Google Shape;138;p17"/>
          <p:cNvSpPr/>
          <p:nvPr/>
        </p:nvSpPr>
        <p:spPr>
          <a:xfrm>
            <a:off x="2556272" y="3302347"/>
            <a:ext cx="1439763" cy="179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 Slab"/>
              <a:buNone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Similarity Matching</a:t>
            </a:r>
            <a:endParaRPr sz="1100" b="0" i="0" u="none" strike="noStrike" cap="none"/>
          </a:p>
        </p:txBody>
      </p:sp>
      <p:sp>
        <p:nvSpPr>
          <p:cNvPr id="139" name="Google Shape;139;p17"/>
          <p:cNvSpPr/>
          <p:nvPr/>
        </p:nvSpPr>
        <p:spPr>
          <a:xfrm>
            <a:off x="598066" y="3538389"/>
            <a:ext cx="3397969" cy="333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Roboto"/>
              <a:buNone/>
            </a:pPr>
            <a:r>
              <a:rPr lang="en-US" sz="9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Calculate cosine similarity between job description vectors and resume vectors to determine matching scores</a:t>
            </a:r>
            <a:endParaRPr sz="900" b="0" i="0" u="none" strike="noStrike" cap="none"/>
          </a:p>
        </p:txBody>
      </p:sp>
      <p:sp>
        <p:nvSpPr>
          <p:cNvPr id="140" name="Google Shape;140;p17"/>
          <p:cNvSpPr/>
          <p:nvPr/>
        </p:nvSpPr>
        <p:spPr>
          <a:xfrm>
            <a:off x="4687193" y="3959275"/>
            <a:ext cx="345504" cy="14288"/>
          </a:xfrm>
          <a:prstGeom prst="roundRect">
            <a:avLst>
              <a:gd name="adj" fmla="val 120926"/>
            </a:avLst>
          </a:prstGeom>
          <a:solidFill>
            <a:srgbClr val="585F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4442371" y="3836863"/>
            <a:ext cx="259110" cy="259110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4485568" y="3858444"/>
            <a:ext cx="172715" cy="21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50"/>
              <a:buFont typeface="Roboto Slab"/>
              <a:buNone/>
            </a:pPr>
            <a:r>
              <a:rPr lang="en-US" sz="135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6</a:t>
            </a:r>
            <a:endParaRPr sz="1350" b="0" i="0" u="none" strike="noStrike" cap="none"/>
          </a:p>
        </p:txBody>
      </p:sp>
      <p:sp>
        <p:nvSpPr>
          <p:cNvPr id="143" name="Google Shape;143;p17"/>
          <p:cNvSpPr/>
          <p:nvPr/>
        </p:nvSpPr>
        <p:spPr>
          <a:xfrm>
            <a:off x="5147816" y="3876452"/>
            <a:ext cx="1439763" cy="179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 Slab"/>
              <a:buNone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Ranking</a:t>
            </a:r>
            <a:endParaRPr sz="1100" b="0" i="0" u="none" strike="noStrike" cap="none"/>
          </a:p>
        </p:txBody>
      </p:sp>
      <p:sp>
        <p:nvSpPr>
          <p:cNvPr id="144" name="Google Shape;144;p17"/>
          <p:cNvSpPr/>
          <p:nvPr/>
        </p:nvSpPr>
        <p:spPr>
          <a:xfrm>
            <a:off x="5147816" y="4112493"/>
            <a:ext cx="3398044" cy="333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00"/>
              <a:buFont typeface="Roboto"/>
              <a:buNone/>
            </a:pPr>
            <a:r>
              <a:rPr lang="en-US" sz="9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Sort candidates by matching scores and generate ranked list with percentage-based suitability ratings</a:t>
            </a:r>
            <a:endParaRPr sz="900" b="0" i="0" u="none" strike="noStrike" cap="non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/>
          <p:nvPr/>
        </p:nvSpPr>
        <p:spPr>
          <a:xfrm>
            <a:off x="426393" y="433983"/>
            <a:ext cx="4009281" cy="380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2350"/>
              <a:buFont typeface="Roboto Slab"/>
              <a:buNone/>
            </a:pPr>
            <a:r>
              <a:rPr lang="en-US" sz="2350" b="0" i="0" u="none" strike="noStrike" cap="non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Text Preprocessing Pipeline</a:t>
            </a:r>
            <a:endParaRPr sz="2350" b="0" i="0" u="none" strike="noStrike" cap="none"/>
          </a:p>
        </p:txBody>
      </p:sp>
      <p:sp>
        <p:nvSpPr>
          <p:cNvPr id="152" name="Google Shape;152;p18"/>
          <p:cNvSpPr/>
          <p:nvPr/>
        </p:nvSpPr>
        <p:spPr>
          <a:xfrm>
            <a:off x="426393" y="1076325"/>
            <a:ext cx="1766515" cy="228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1400"/>
              <a:buFont typeface="Roboto Slab"/>
              <a:buNone/>
            </a:pPr>
            <a:r>
              <a:rPr lang="en-US" sz="1400" b="0" i="0" u="none" strike="noStrike" cap="non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Preprocessing Steps</a:t>
            </a:r>
            <a:endParaRPr sz="1400" b="0" i="0" u="none" strike="noStrike" cap="none"/>
          </a:p>
        </p:txBody>
      </p:sp>
      <p:sp>
        <p:nvSpPr>
          <p:cNvPr id="153" name="Google Shape;153;p18"/>
          <p:cNvSpPr/>
          <p:nvPr/>
        </p:nvSpPr>
        <p:spPr>
          <a:xfrm>
            <a:off x="426393" y="1409402"/>
            <a:ext cx="1766515" cy="3263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50"/>
              <a:buFont typeface="Roboto"/>
              <a:buChar char="•"/>
            </a:pPr>
            <a:r>
              <a:rPr lang="en-US" sz="950" b="1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Tokenization:</a:t>
            </a:r>
            <a:r>
              <a:rPr lang="en-US" sz="9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Split text into individual words and phrases</a:t>
            </a:r>
            <a:endParaRPr sz="950" b="0" i="0" u="none" strike="noStrike" cap="none"/>
          </a:p>
          <a:p>
            <a:pPr marL="342900" marR="0" lvl="0" indent="-342900" algn="l" rtl="0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50"/>
              <a:buFont typeface="Roboto"/>
              <a:buChar char="•"/>
            </a:pPr>
            <a:r>
              <a:rPr lang="en-US" sz="950" b="1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Lowercasing:</a:t>
            </a:r>
            <a:r>
              <a:rPr lang="en-US" sz="9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Convert all text to uniform case for consistency</a:t>
            </a:r>
            <a:endParaRPr sz="950" b="0" i="0" u="none" strike="noStrike" cap="none"/>
          </a:p>
          <a:p>
            <a:pPr marL="342900" marR="0" lvl="0" indent="-342900" algn="l" rtl="0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50"/>
              <a:buFont typeface="Roboto"/>
              <a:buChar char="•"/>
            </a:pPr>
            <a:r>
              <a:rPr lang="en-US" sz="950" b="1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Stop Word Removal:</a:t>
            </a:r>
            <a:r>
              <a:rPr lang="en-US" sz="9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Eliminate common words (the, is, and) that add noise</a:t>
            </a:r>
            <a:endParaRPr sz="950" b="0" i="0" u="none" strike="noStrike" cap="none"/>
          </a:p>
          <a:p>
            <a:pPr marL="342900" marR="0" lvl="0" indent="-342900" algn="l" rtl="0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50"/>
              <a:buFont typeface="Roboto"/>
              <a:buChar char="•"/>
            </a:pPr>
            <a:r>
              <a:rPr lang="en-US" sz="950" b="1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Stemming:</a:t>
            </a:r>
            <a:r>
              <a:rPr lang="en-US" sz="9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Reduce words to root forms (running → run)</a:t>
            </a:r>
            <a:endParaRPr sz="950" b="0" i="0" u="none" strike="noStrike" cap="none"/>
          </a:p>
          <a:p>
            <a:pPr marL="342900" marR="0" lvl="0" indent="-342900" algn="l" rtl="0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50"/>
              <a:buFont typeface="Roboto"/>
              <a:buChar char="•"/>
            </a:pPr>
            <a:r>
              <a:rPr lang="en-US" sz="950" b="1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Lemmatization:</a:t>
            </a:r>
            <a:r>
              <a:rPr lang="en-US" sz="9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Convert words to dictionary base forms</a:t>
            </a:r>
            <a:endParaRPr sz="950" b="0" i="0" u="none" strike="noStrike" cap="none"/>
          </a:p>
          <a:p>
            <a:pPr marL="342900" marR="0" lvl="0" indent="-342900" algn="l" rtl="0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50"/>
              <a:buFont typeface="Roboto"/>
              <a:buChar char="•"/>
            </a:pPr>
            <a:r>
              <a:rPr lang="en-US" sz="950" b="1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Special Character Removal:</a:t>
            </a:r>
            <a:r>
              <a:rPr lang="en-US" sz="9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Clean punctuation and symbols</a:t>
            </a:r>
            <a:endParaRPr sz="950" b="0" i="0" u="none" strike="noStrike" cap="none"/>
          </a:p>
        </p:txBody>
      </p:sp>
      <p:sp>
        <p:nvSpPr>
          <p:cNvPr id="154" name="Google Shape;154;p18"/>
          <p:cNvSpPr/>
          <p:nvPr/>
        </p:nvSpPr>
        <p:spPr>
          <a:xfrm>
            <a:off x="2494880" y="1076325"/>
            <a:ext cx="1918171" cy="228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1400"/>
              <a:buFont typeface="Roboto Slab"/>
              <a:buNone/>
            </a:pPr>
            <a:r>
              <a:rPr lang="en-US" sz="1400" b="0" i="0" u="none" strike="noStrike" cap="non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NLP Concepts Applied</a:t>
            </a:r>
            <a:endParaRPr sz="1400" b="0" i="0" u="none" strike="noStrike" cap="none"/>
          </a:p>
        </p:txBody>
      </p:sp>
      <p:sp>
        <p:nvSpPr>
          <p:cNvPr id="155" name="Google Shape;155;p18"/>
          <p:cNvSpPr/>
          <p:nvPr/>
        </p:nvSpPr>
        <p:spPr>
          <a:xfrm>
            <a:off x="2494880" y="1409402"/>
            <a:ext cx="2798415" cy="54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50"/>
              <a:buFont typeface="Roboto"/>
              <a:buNone/>
            </a:pPr>
            <a:r>
              <a:rPr lang="en-US" sz="950" b="1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TF-IDF Vectorization:</a:t>
            </a:r>
            <a:r>
              <a:rPr lang="en-US" sz="9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Weights terms based on importance within document and across corpus. Rare but meaningful terms receive higher weights.</a:t>
            </a:r>
            <a:endParaRPr sz="950" b="0" i="0" u="none" strike="noStrike" cap="none"/>
          </a:p>
        </p:txBody>
      </p:sp>
      <p:sp>
        <p:nvSpPr>
          <p:cNvPr id="156" name="Google Shape;156;p18"/>
          <p:cNvSpPr/>
          <p:nvPr/>
        </p:nvSpPr>
        <p:spPr>
          <a:xfrm>
            <a:off x="2494880" y="2047205"/>
            <a:ext cx="2798415" cy="72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50"/>
              <a:buFont typeface="Roboto"/>
              <a:buNone/>
            </a:pPr>
            <a:r>
              <a:rPr lang="en-US" sz="950" b="1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Cosine Similarity:</a:t>
            </a:r>
            <a:r>
              <a:rPr lang="en-US" sz="9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Measures angular similarity between vector representations of job descriptions and resumes. Values range from 0 (no similarity) to 1 (identical).</a:t>
            </a:r>
            <a:endParaRPr sz="950" b="0" i="0" u="none" strike="noStrike" cap="none"/>
          </a:p>
        </p:txBody>
      </p:sp>
      <p:sp>
        <p:nvSpPr>
          <p:cNvPr id="157" name="Google Shape;157;p18"/>
          <p:cNvSpPr/>
          <p:nvPr/>
        </p:nvSpPr>
        <p:spPr>
          <a:xfrm>
            <a:off x="2494880" y="2866206"/>
            <a:ext cx="2798415" cy="54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950"/>
              <a:buFont typeface="Roboto"/>
              <a:buNone/>
            </a:pPr>
            <a:r>
              <a:rPr lang="en-US" sz="950" b="1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Bag-of-Words Model:</a:t>
            </a:r>
            <a:r>
              <a:rPr lang="en-US" sz="9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Represents text as unordered collection of word frequencies, ignoring grammar but capturing content essence.</a:t>
            </a:r>
            <a:endParaRPr sz="950" b="0" i="0" u="none" strike="noStrike" cap="non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/>
          <p:nvPr/>
        </p:nvSpPr>
        <p:spPr>
          <a:xfrm>
            <a:off x="496119" y="557957"/>
            <a:ext cx="3544119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2750"/>
              <a:buFont typeface="Roboto Slab"/>
              <a:buNone/>
            </a:pPr>
            <a:r>
              <a:rPr lang="en-US" sz="2750" b="0" i="0" u="none" strike="noStrike" cap="non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Technology Stack</a:t>
            </a:r>
            <a:endParaRPr sz="2750" b="0" i="0" u="none" strike="noStrike" cap="none"/>
          </a:p>
        </p:txBody>
      </p:sp>
      <p:pic>
        <p:nvPicPr>
          <p:cNvPr id="164" name="Google Shape;164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1284461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/>
          <p:nvPr/>
        </p:nvSpPr>
        <p:spPr>
          <a:xfrm>
            <a:off x="1027658" y="1284461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50"/>
              <a:buFont typeface="Roboto Slab"/>
              <a:buNone/>
            </a:pPr>
            <a:r>
              <a:rPr lang="en-US" sz="135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Python</a:t>
            </a:r>
            <a:endParaRPr sz="1350" b="0" i="0" u="none" strike="noStrike" cap="none"/>
          </a:p>
        </p:txBody>
      </p:sp>
      <p:sp>
        <p:nvSpPr>
          <p:cNvPr id="166" name="Google Shape;166;p19"/>
          <p:cNvSpPr/>
          <p:nvPr/>
        </p:nvSpPr>
        <p:spPr>
          <a:xfrm>
            <a:off x="1027658" y="1590973"/>
            <a:ext cx="3455715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Core programming language for implementation, providing extensive libraries and frameworks for NLP and machine learning applications</a:t>
            </a:r>
            <a:endParaRPr sz="1100" b="0" i="0" u="none" strike="noStrike" cap="none"/>
          </a:p>
        </p:txBody>
      </p:sp>
      <p:pic>
        <p:nvPicPr>
          <p:cNvPr id="167" name="Google Shape;167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0553" y="1284461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/>
          <p:nvPr/>
        </p:nvSpPr>
        <p:spPr>
          <a:xfrm>
            <a:off x="5192092" y="1284461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50"/>
              <a:buFont typeface="Roboto Slab"/>
              <a:buNone/>
            </a:pPr>
            <a:r>
              <a:rPr lang="en-US" sz="135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Scikit-learn</a:t>
            </a:r>
            <a:endParaRPr sz="1350" b="0" i="0" u="none" strike="noStrike" cap="none"/>
          </a:p>
        </p:txBody>
      </p:sp>
      <p:sp>
        <p:nvSpPr>
          <p:cNvPr id="169" name="Google Shape;169;p19"/>
          <p:cNvSpPr/>
          <p:nvPr/>
        </p:nvSpPr>
        <p:spPr>
          <a:xfrm>
            <a:off x="5192092" y="1590973"/>
            <a:ext cx="3455789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Machine learning library for TF-IDF vectorization, cosine similarity calculation, and model evaluation metrics</a:t>
            </a:r>
            <a:endParaRPr sz="1100" b="0" i="0" u="none" strike="noStrike" cap="none"/>
          </a:p>
        </p:txBody>
      </p:sp>
      <p:pic>
        <p:nvPicPr>
          <p:cNvPr id="170" name="Google Shape;170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6119" y="2554932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/>
          <p:nvPr/>
        </p:nvSpPr>
        <p:spPr>
          <a:xfrm>
            <a:off x="1027658" y="2554932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50"/>
              <a:buFont typeface="Roboto Slab"/>
              <a:buNone/>
            </a:pPr>
            <a:r>
              <a:rPr lang="en-US" sz="135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NLTK</a:t>
            </a:r>
            <a:endParaRPr sz="1350" b="0" i="0" u="none" strike="noStrike" cap="none"/>
          </a:p>
        </p:txBody>
      </p:sp>
      <p:sp>
        <p:nvSpPr>
          <p:cNvPr id="172" name="Google Shape;172;p19"/>
          <p:cNvSpPr/>
          <p:nvPr/>
        </p:nvSpPr>
        <p:spPr>
          <a:xfrm>
            <a:off x="1027658" y="2861444"/>
            <a:ext cx="3455715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Natural Language Toolkit for text preprocessing including tokenization, stemming, lemmatization, and stop word removal</a:t>
            </a:r>
            <a:endParaRPr sz="1100" b="0" i="0" u="none" strike="noStrike" cap="none"/>
          </a:p>
        </p:txBody>
      </p:sp>
      <p:pic>
        <p:nvPicPr>
          <p:cNvPr id="173" name="Google Shape;173;p1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60553" y="2554932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5192092" y="2554932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50"/>
              <a:buFont typeface="Roboto Slab"/>
              <a:buNone/>
            </a:pPr>
            <a:r>
              <a:rPr lang="en-US" sz="135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Pandas</a:t>
            </a:r>
            <a:endParaRPr sz="1350" b="0" i="0" u="none" strike="noStrike" cap="none"/>
          </a:p>
        </p:txBody>
      </p:sp>
      <p:sp>
        <p:nvSpPr>
          <p:cNvPr id="175" name="Google Shape;175;p19"/>
          <p:cNvSpPr/>
          <p:nvPr/>
        </p:nvSpPr>
        <p:spPr>
          <a:xfrm>
            <a:off x="5192092" y="2861444"/>
            <a:ext cx="3455789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Data manipulation and analysis library for handling structured resume data and generating reports</a:t>
            </a:r>
            <a:endParaRPr sz="1100" b="0" i="0" u="none" strike="noStrike" cap="none"/>
          </a:p>
        </p:txBody>
      </p:sp>
      <p:pic>
        <p:nvPicPr>
          <p:cNvPr id="176" name="Google Shape;176;p1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6119" y="3825404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/>
          <p:nvPr/>
        </p:nvSpPr>
        <p:spPr>
          <a:xfrm>
            <a:off x="1027658" y="3825404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50"/>
              <a:buFont typeface="Roboto Slab"/>
              <a:buNone/>
            </a:pPr>
            <a:r>
              <a:rPr lang="en-US" sz="135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Flask/Streamlit</a:t>
            </a:r>
            <a:endParaRPr sz="1350" b="0" i="0" u="none" strike="noStrike" cap="none"/>
          </a:p>
        </p:txBody>
      </p:sp>
      <p:sp>
        <p:nvSpPr>
          <p:cNvPr id="178" name="Google Shape;178;p19"/>
          <p:cNvSpPr/>
          <p:nvPr/>
        </p:nvSpPr>
        <p:spPr>
          <a:xfrm>
            <a:off x="1027658" y="4131915"/>
            <a:ext cx="3455715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Web framework for building user interface and deploying application with interactive features</a:t>
            </a:r>
            <a:endParaRPr sz="1100" b="0" i="0" u="none" strike="noStrike" cap="none"/>
          </a:p>
        </p:txBody>
      </p:sp>
      <p:pic>
        <p:nvPicPr>
          <p:cNvPr id="179" name="Google Shape;179;p1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60553" y="3825404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/>
          <p:nvPr/>
        </p:nvSpPr>
        <p:spPr>
          <a:xfrm>
            <a:off x="5192092" y="3825404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50"/>
              <a:buFont typeface="Roboto Slab"/>
              <a:buNone/>
            </a:pPr>
            <a:r>
              <a:rPr lang="en-US" sz="135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PyPDF2/Docx</a:t>
            </a:r>
            <a:endParaRPr sz="1350" b="0" i="0" u="none" strike="noStrike" cap="none"/>
          </a:p>
        </p:txBody>
      </p:sp>
      <p:sp>
        <p:nvSpPr>
          <p:cNvPr id="181" name="Google Shape;181;p19"/>
          <p:cNvSpPr/>
          <p:nvPr/>
        </p:nvSpPr>
        <p:spPr>
          <a:xfrm>
            <a:off x="5192092" y="4131915"/>
            <a:ext cx="3455789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"/>
              <a:buNone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Document parsing libraries for extracting text content from PDF and Microsoft Word file formats</a:t>
            </a:r>
            <a:endParaRPr sz="1100" b="0" i="0" u="none" strike="noStrike" cap="non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/>
          <p:nvPr/>
        </p:nvSpPr>
        <p:spPr>
          <a:xfrm>
            <a:off x="3925119" y="620092"/>
            <a:ext cx="3925863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2750"/>
              <a:buFont typeface="Roboto Slab"/>
              <a:buNone/>
            </a:pPr>
            <a:r>
              <a:rPr lang="en-US" sz="2750" b="0" i="0" u="none" strike="noStrike" cap="non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Implementation Details</a:t>
            </a:r>
            <a:endParaRPr sz="2750" b="0" i="0" u="none" strike="noStrike" cap="none"/>
          </a:p>
        </p:txBody>
      </p:sp>
      <p:sp>
        <p:nvSpPr>
          <p:cNvPr id="189" name="Google Shape;189;p20"/>
          <p:cNvSpPr/>
          <p:nvPr/>
        </p:nvSpPr>
        <p:spPr>
          <a:xfrm>
            <a:off x="3925119" y="1417439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1350"/>
              <a:buFont typeface="Roboto Slab"/>
              <a:buNone/>
            </a:pPr>
            <a:r>
              <a:rPr lang="en-US" sz="1350" b="0" i="0" u="none" strike="noStrike" cap="non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Core Components</a:t>
            </a:r>
            <a:endParaRPr sz="1350" b="0" i="0" u="none" strike="noStrike" cap="none"/>
          </a:p>
        </p:txBody>
      </p:sp>
      <p:sp>
        <p:nvSpPr>
          <p:cNvPr id="190" name="Google Shape;190;p20"/>
          <p:cNvSpPr/>
          <p:nvPr/>
        </p:nvSpPr>
        <p:spPr>
          <a:xfrm>
            <a:off x="3925119" y="1780654"/>
            <a:ext cx="2188443" cy="269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"/>
              <a:buChar char="•"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Resume parser with format detection and automatic text extraction</a:t>
            </a:r>
            <a:endParaRPr sz="1100" b="0" i="0" u="none" strike="noStrike" cap="none"/>
          </a:p>
          <a:p>
            <a:pPr marL="342900" marR="0" lvl="0" indent="-34290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"/>
              <a:buChar char="•"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NLP pipeline with configurable preprocessing parameters</a:t>
            </a:r>
            <a:endParaRPr sz="1100" b="0" i="0" u="none" strike="noStrike" cap="none"/>
          </a:p>
          <a:p>
            <a:pPr marL="342900" marR="0" lvl="0" indent="-34290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"/>
              <a:buChar char="•"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TF-IDF vectorizer with dynamic vocabulary building</a:t>
            </a:r>
            <a:endParaRPr sz="1100" b="0" i="0" u="none" strike="noStrike" cap="none"/>
          </a:p>
          <a:p>
            <a:pPr marL="342900" marR="0" lvl="0" indent="-34290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"/>
              <a:buChar char="•"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Cosine similarity calculator with threshold-based filtering</a:t>
            </a:r>
            <a:endParaRPr sz="1100" b="0" i="0" u="none" strike="noStrike" cap="none"/>
          </a:p>
          <a:p>
            <a:pPr marL="342900" marR="0" lvl="0" indent="-34290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"/>
              <a:buChar char="•"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Results generator with detailed matching analysis</a:t>
            </a:r>
            <a:endParaRPr sz="1100" b="0" i="0" u="none" strike="noStrike" cap="none"/>
          </a:p>
        </p:txBody>
      </p:sp>
      <p:sp>
        <p:nvSpPr>
          <p:cNvPr id="191" name="Google Shape;191;p20"/>
          <p:cNvSpPr/>
          <p:nvPr/>
        </p:nvSpPr>
        <p:spPr>
          <a:xfrm>
            <a:off x="6464201" y="1417439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1350"/>
              <a:buFont typeface="Roboto Slab"/>
              <a:buNone/>
            </a:pPr>
            <a:r>
              <a:rPr lang="en-US" sz="1350" b="0" i="0" u="none" strike="noStrike" cap="non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Key Features</a:t>
            </a:r>
            <a:endParaRPr sz="1350" b="0" i="0" u="none" strike="noStrike" cap="none"/>
          </a:p>
        </p:txBody>
      </p:sp>
      <p:sp>
        <p:nvSpPr>
          <p:cNvPr id="192" name="Google Shape;192;p20"/>
          <p:cNvSpPr/>
          <p:nvPr/>
        </p:nvSpPr>
        <p:spPr>
          <a:xfrm>
            <a:off x="6464201" y="1780654"/>
            <a:ext cx="2188443" cy="2693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"/>
              <a:buChar char="•"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Support for multiple document formats with consistent output</a:t>
            </a:r>
            <a:endParaRPr sz="1100" b="0" i="0" u="none" strike="noStrike" cap="none"/>
          </a:p>
          <a:p>
            <a:pPr marL="342900" marR="0" lvl="0" indent="-34290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"/>
              <a:buChar char="•"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Customizable stop word lists and preprocessing rules</a:t>
            </a:r>
            <a:endParaRPr sz="1100" b="0" i="0" u="none" strike="noStrike" cap="none"/>
          </a:p>
          <a:p>
            <a:pPr marL="342900" marR="0" lvl="0" indent="-34290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"/>
              <a:buChar char="•"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Configurable matching thresholds for different job types</a:t>
            </a:r>
            <a:endParaRPr sz="1100" b="0" i="0" u="none" strike="noStrike" cap="none"/>
          </a:p>
          <a:p>
            <a:pPr marL="342900" marR="0" lvl="0" indent="-34290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"/>
              <a:buChar char="•"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Exportable results in CSV and JSON formats</a:t>
            </a:r>
            <a:endParaRPr sz="1100" b="0" i="0" u="none" strike="noStrike" cap="none"/>
          </a:p>
          <a:p>
            <a:pPr marL="342900" marR="0" lvl="0" indent="-34290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"/>
              <a:buChar char="•"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Performance metrics tracking and logging</a:t>
            </a:r>
            <a:endParaRPr sz="1100" b="0" i="0" u="none" strike="noStrike" cap="non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/>
          <p:nvPr/>
        </p:nvSpPr>
        <p:spPr>
          <a:xfrm>
            <a:off x="1184615" y="676432"/>
            <a:ext cx="3004979" cy="607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1350"/>
              <a:buFont typeface="Roboto Slab"/>
              <a:buNone/>
            </a:pPr>
            <a:r>
              <a:rPr lang="en-US" sz="1800" b="0" i="0" u="none" strike="noStrike" cap="non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Results and Analysis</a:t>
            </a:r>
            <a:endParaRPr lang="en-US" sz="1800" b="0" i="0" u="none" strike="noStrike" cap="none"/>
          </a:p>
        </p:txBody>
      </p:sp>
      <p:pic>
        <p:nvPicPr>
          <p:cNvPr id="199" name="Google Shape;199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9323" y="1123123"/>
            <a:ext cx="3164839" cy="1294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4615" y="2499916"/>
            <a:ext cx="3159545" cy="1279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7267" y="1122369"/>
            <a:ext cx="3360867" cy="1281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37268" y="2497992"/>
            <a:ext cx="3353870" cy="126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/>
          <p:nvPr/>
        </p:nvSpPr>
        <p:spPr>
          <a:xfrm>
            <a:off x="1184615" y="3847149"/>
            <a:ext cx="2087628" cy="710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00"/>
              <a:buFont typeface="Roboto Slab"/>
              <a:buNone/>
            </a:pPr>
            <a:r>
              <a:rPr lang="en-US" sz="180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92%</a:t>
            </a:r>
            <a:endParaRPr sz="1800" b="0" i="0" u="none" strike="noStrike" cap="none"/>
          </a:p>
        </p:txBody>
      </p:sp>
      <p:sp>
        <p:nvSpPr>
          <p:cNvPr id="204" name="Google Shape;204;p21"/>
          <p:cNvSpPr/>
          <p:nvPr/>
        </p:nvSpPr>
        <p:spPr>
          <a:xfrm>
            <a:off x="1605525" y="4127144"/>
            <a:ext cx="1155849" cy="338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650"/>
              <a:buFont typeface="Roboto Slab"/>
              <a:buNone/>
            </a:pPr>
            <a:r>
              <a:rPr lang="en-US" sz="65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Accuracy Rate</a:t>
            </a:r>
            <a:endParaRPr sz="650" b="0" i="0" u="none" strike="noStrike" cap="none"/>
          </a:p>
        </p:txBody>
      </p:sp>
      <p:sp>
        <p:nvSpPr>
          <p:cNvPr id="205" name="Google Shape;205;p21"/>
          <p:cNvSpPr/>
          <p:nvPr/>
        </p:nvSpPr>
        <p:spPr>
          <a:xfrm>
            <a:off x="1136990" y="4259080"/>
            <a:ext cx="2087628" cy="519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Roboto"/>
              <a:buNone/>
            </a:pPr>
            <a:r>
              <a:rPr lang="en-US" sz="5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Correctly identified qualified candidates compared to manual screening</a:t>
            </a:r>
            <a:endParaRPr sz="550" b="0" i="0" u="none" strike="noStrike" cap="none"/>
          </a:p>
        </p:txBody>
      </p:sp>
      <p:sp>
        <p:nvSpPr>
          <p:cNvPr id="206" name="Google Shape;206;p21"/>
          <p:cNvSpPr/>
          <p:nvPr/>
        </p:nvSpPr>
        <p:spPr>
          <a:xfrm>
            <a:off x="3464686" y="3831274"/>
            <a:ext cx="2087628" cy="710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00"/>
              <a:buFont typeface="Roboto Slab"/>
              <a:buNone/>
            </a:pPr>
            <a:r>
              <a:rPr lang="en-US" sz="180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85%</a:t>
            </a:r>
            <a:endParaRPr sz="1800" b="0" i="0" u="none" strike="noStrike" cap="none"/>
          </a:p>
        </p:txBody>
      </p:sp>
      <p:sp>
        <p:nvSpPr>
          <p:cNvPr id="207" name="Google Shape;207;p21"/>
          <p:cNvSpPr/>
          <p:nvPr/>
        </p:nvSpPr>
        <p:spPr>
          <a:xfrm>
            <a:off x="3822097" y="4127144"/>
            <a:ext cx="1155849" cy="338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650"/>
              <a:buFont typeface="Roboto Slab"/>
              <a:buNone/>
            </a:pPr>
            <a:r>
              <a:rPr lang="en-US" sz="65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Time Reduction</a:t>
            </a:r>
            <a:endParaRPr sz="650" b="0" i="0" u="none" strike="noStrike" cap="none"/>
          </a:p>
        </p:txBody>
      </p:sp>
      <p:sp>
        <p:nvSpPr>
          <p:cNvPr id="208" name="Google Shape;208;p21"/>
          <p:cNvSpPr/>
          <p:nvPr/>
        </p:nvSpPr>
        <p:spPr>
          <a:xfrm>
            <a:off x="3464686" y="4259080"/>
            <a:ext cx="2087628" cy="519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Roboto"/>
              <a:buNone/>
            </a:pPr>
            <a:r>
              <a:rPr lang="en-US" sz="5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Faster processing compared to traditional manual resume review methods</a:t>
            </a:r>
            <a:endParaRPr sz="550" b="0" i="0" u="none" strike="noStrike" cap="none"/>
          </a:p>
        </p:txBody>
      </p:sp>
      <p:sp>
        <p:nvSpPr>
          <p:cNvPr id="209" name="Google Shape;209;p21"/>
          <p:cNvSpPr/>
          <p:nvPr/>
        </p:nvSpPr>
        <p:spPr>
          <a:xfrm>
            <a:off x="5691841" y="3831274"/>
            <a:ext cx="2087628" cy="710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800"/>
              <a:buFont typeface="Roboto Slab"/>
              <a:buNone/>
            </a:pPr>
            <a:r>
              <a:rPr lang="en-US" sz="180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10+</a:t>
            </a:r>
            <a:endParaRPr sz="1800" b="0" i="0" u="none" strike="noStrike" cap="none"/>
          </a:p>
        </p:txBody>
      </p:sp>
      <p:sp>
        <p:nvSpPr>
          <p:cNvPr id="210" name="Google Shape;210;p21"/>
          <p:cNvSpPr/>
          <p:nvPr/>
        </p:nvSpPr>
        <p:spPr>
          <a:xfrm>
            <a:off x="6112752" y="4127144"/>
            <a:ext cx="1155849" cy="338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650"/>
              <a:buFont typeface="Roboto Slab"/>
              <a:buNone/>
            </a:pPr>
            <a:r>
              <a:rPr lang="en-US" sz="65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Resumes Processed</a:t>
            </a:r>
            <a:endParaRPr sz="650" b="0" i="0" u="none" strike="noStrike" cap="none"/>
          </a:p>
        </p:txBody>
      </p:sp>
      <p:sp>
        <p:nvSpPr>
          <p:cNvPr id="211" name="Google Shape;211;p21"/>
          <p:cNvSpPr/>
          <p:nvPr/>
        </p:nvSpPr>
        <p:spPr>
          <a:xfrm>
            <a:off x="5691841" y="4296122"/>
            <a:ext cx="2087628" cy="519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Roboto"/>
              <a:buNone/>
            </a:pPr>
            <a:r>
              <a:rPr lang="en-US" sz="5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Tested with diverse resume formats and job descriptions in evaluation phase</a:t>
            </a:r>
            <a:endParaRPr sz="550" b="0" i="0" u="none" strike="noStrike" cap="non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/>
          <p:nvPr/>
        </p:nvSpPr>
        <p:spPr>
          <a:xfrm>
            <a:off x="674489" y="340742"/>
            <a:ext cx="628196" cy="204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200" dirty="0">
              <a:solidFill>
                <a:srgbClr val="76B9FF"/>
              </a:solidFill>
              <a:latin typeface="Roboto Slab"/>
              <a:ea typeface="Roboto Slab"/>
              <a:cs typeface="Roboto Slab"/>
            </a:endParaRPr>
          </a:p>
        </p:txBody>
      </p:sp>
      <p:sp>
        <p:nvSpPr>
          <p:cNvPr id="20" name="Google Shape;212;p21">
            <a:extLst>
              <a:ext uri="{FF2B5EF4-FFF2-40B4-BE49-F238E27FC236}">
                <a16:creationId xmlns:a16="http://schemas.microsoft.com/office/drawing/2014/main" id="{5837990F-1E06-B085-A924-F46FA99D7D1C}"/>
              </a:ext>
            </a:extLst>
          </p:cNvPr>
          <p:cNvSpPr/>
          <p:nvPr/>
        </p:nvSpPr>
        <p:spPr>
          <a:xfrm>
            <a:off x="967656" y="767574"/>
            <a:ext cx="2237977" cy="709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800"/>
              <a:buFont typeface="Roboto Slab"/>
              <a:buNone/>
            </a:pPr>
            <a:r>
              <a:rPr lang="en-US" b="0" i="0" u="none" strike="noStrike" cap="non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Performance Metrics</a:t>
            </a:r>
            <a:endParaRPr lang="en-US" b="0" i="0" u="none" strike="noStrike" cap="none"/>
          </a:p>
        </p:txBody>
      </p:sp>
      <p:sp>
        <p:nvSpPr>
          <p:cNvPr id="21" name="Google Shape;213;p21">
            <a:extLst>
              <a:ext uri="{FF2B5EF4-FFF2-40B4-BE49-F238E27FC236}">
                <a16:creationId xmlns:a16="http://schemas.microsoft.com/office/drawing/2014/main" id="{4AAA729F-4B05-8442-A60A-D54E930CC073}"/>
              </a:ext>
            </a:extLst>
          </p:cNvPr>
          <p:cNvSpPr/>
          <p:nvPr/>
        </p:nvSpPr>
        <p:spPr>
          <a:xfrm>
            <a:off x="655447" y="1091192"/>
            <a:ext cx="5277230" cy="38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marR="0" lvl="0" indent="-3429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Roboto"/>
              <a:buChar char="•"/>
            </a:pPr>
            <a:r>
              <a:rPr lang="en-US" sz="1000" b="1" i="0" u="none" strike="noStrike" cap="none" dirty="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Precision:</a:t>
            </a:r>
            <a:r>
              <a:rPr lang="en-US" sz="1000" b="0" i="0" u="none" strike="noStrike" cap="none" dirty="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88% - Proportion of matched candidates who were actually qualified</a:t>
            </a:r>
            <a:endParaRPr lang="en-US" sz="1000" b="0" i="0" u="none" strike="noStrike" cap="none"/>
          </a:p>
          <a:p>
            <a:pPr marL="342900" marR="0" lvl="0" indent="-3429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Roboto"/>
              <a:buChar char="•"/>
            </a:pPr>
            <a:r>
              <a:rPr lang="en-US" sz="1000" b="1" i="0" u="none" strike="noStrike" cap="none" dirty="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Recall:</a:t>
            </a:r>
            <a:r>
              <a:rPr lang="en-US" sz="1000" b="0" i="0" u="none" strike="noStrike" cap="none" dirty="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91% - Proportion of qualified candidates correctly identified</a:t>
            </a:r>
            <a:endParaRPr sz="1000" b="0" i="0" u="none" strike="noStrike" cap="none"/>
          </a:p>
          <a:p>
            <a:pPr marL="342900" marR="0" lvl="0" indent="-3429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Roboto"/>
              <a:buChar char="•"/>
            </a:pPr>
            <a:r>
              <a:rPr lang="en-US" sz="1000" b="1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F1 Score:</a:t>
            </a:r>
            <a:r>
              <a:rPr lang="en-US" sz="10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89% - Harmonic mean of precision and recall</a:t>
            </a:r>
            <a:endParaRPr sz="1000" b="0" i="0" u="none" strike="noStrike" cap="none"/>
          </a:p>
          <a:p>
            <a:pPr marL="342900" marR="0" lvl="0" indent="-3429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Roboto"/>
              <a:buChar char="•"/>
            </a:pPr>
            <a:r>
              <a:rPr lang="en-US" sz="1000" b="1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Processing Time:</a:t>
            </a:r>
            <a:r>
              <a:rPr lang="en-US" sz="10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2-3 seconds per resume on average hardware</a:t>
            </a:r>
            <a:endParaRPr sz="1000" b="0" i="0" u="none" strike="noStrike" cap="none"/>
          </a:p>
        </p:txBody>
      </p:sp>
      <p:sp>
        <p:nvSpPr>
          <p:cNvPr id="22" name="Google Shape;214;p21">
            <a:extLst>
              <a:ext uri="{FF2B5EF4-FFF2-40B4-BE49-F238E27FC236}">
                <a16:creationId xmlns:a16="http://schemas.microsoft.com/office/drawing/2014/main" id="{A6F197FC-C9E1-A950-73E1-BF1B115FD317}"/>
              </a:ext>
            </a:extLst>
          </p:cNvPr>
          <p:cNvSpPr/>
          <p:nvPr/>
        </p:nvSpPr>
        <p:spPr>
          <a:xfrm>
            <a:off x="988823" y="2140728"/>
            <a:ext cx="1063228" cy="132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800"/>
              <a:buFont typeface="Roboto Slab"/>
              <a:buNone/>
            </a:pPr>
            <a:r>
              <a:rPr lang="en-US" b="0" i="0" u="none" strike="noStrike" cap="non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Limitations</a:t>
            </a:r>
            <a:endParaRPr lang="en-US" b="0" i="0" u="none" strike="noStrike" cap="none"/>
          </a:p>
        </p:txBody>
      </p:sp>
      <p:sp>
        <p:nvSpPr>
          <p:cNvPr id="23" name="Google Shape;215;p21">
            <a:extLst>
              <a:ext uri="{FF2B5EF4-FFF2-40B4-BE49-F238E27FC236}">
                <a16:creationId xmlns:a16="http://schemas.microsoft.com/office/drawing/2014/main" id="{1F20F1BB-C002-46F5-DE42-8A79ED4A5686}"/>
              </a:ext>
            </a:extLst>
          </p:cNvPr>
          <p:cNvSpPr/>
          <p:nvPr/>
        </p:nvSpPr>
        <p:spPr>
          <a:xfrm>
            <a:off x="676614" y="2411429"/>
            <a:ext cx="4890939" cy="377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marR="0" lvl="0" indent="-3429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Roboto"/>
              <a:buChar char="•"/>
            </a:pPr>
            <a:r>
              <a:rPr lang="en-US" sz="10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Performance varies with resume formatting quality</a:t>
            </a:r>
            <a:endParaRPr lang="en-US" sz="1000" b="0" i="0" u="none" strike="noStrike" cap="none"/>
          </a:p>
          <a:p>
            <a:pPr marL="342900" marR="0" lvl="0" indent="-3429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Roboto"/>
              <a:buChar char="•"/>
            </a:pPr>
            <a:r>
              <a:rPr lang="en-US" sz="10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Context understanding limited to keyword-based matching</a:t>
            </a:r>
            <a:endParaRPr sz="1000" b="0" i="0" u="none" strike="noStrike" cap="none"/>
          </a:p>
          <a:p>
            <a:pPr marL="342900" marR="0" lvl="0" indent="-3429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Roboto"/>
              <a:buChar char="•"/>
            </a:pPr>
            <a:r>
              <a:rPr lang="en-US" sz="1000" b="0" i="0" u="none" strike="noStrike" cap="none" dirty="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Requires training data for optimal threshold settings</a:t>
            </a:r>
            <a:endParaRPr sz="1000" b="0" i="0" u="none" strike="noStrike" cap="none"/>
          </a:p>
          <a:p>
            <a:pPr marL="342900" marR="0" lvl="0" indent="-3429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Roboto"/>
              <a:buChar char="•"/>
            </a:pPr>
            <a:r>
              <a:rPr lang="en-US" sz="10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May miss candidates with unconventional resume structures</a:t>
            </a:r>
            <a:endParaRPr sz="1000" b="0" i="0" u="none" strike="noStrike" cap="none"/>
          </a:p>
        </p:txBody>
      </p:sp>
      <p:sp>
        <p:nvSpPr>
          <p:cNvPr id="24" name="Google Shape;216;p21">
            <a:extLst>
              <a:ext uri="{FF2B5EF4-FFF2-40B4-BE49-F238E27FC236}">
                <a16:creationId xmlns:a16="http://schemas.microsoft.com/office/drawing/2014/main" id="{9D5EE0DB-1554-8400-E01C-103C35E75B1A}"/>
              </a:ext>
            </a:extLst>
          </p:cNvPr>
          <p:cNvSpPr/>
          <p:nvPr/>
        </p:nvSpPr>
        <p:spPr>
          <a:xfrm>
            <a:off x="999407" y="3386882"/>
            <a:ext cx="2743555" cy="392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800"/>
              <a:buFont typeface="Roboto Slab"/>
              <a:buNone/>
            </a:pPr>
            <a:r>
              <a:rPr lang="en-US" b="0" i="0" u="none" strike="noStrike" cap="non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Future Improvements</a:t>
            </a:r>
            <a:endParaRPr lang="en-US" b="0" i="0" u="none" strike="noStrike" cap="none"/>
          </a:p>
        </p:txBody>
      </p:sp>
      <p:sp>
        <p:nvSpPr>
          <p:cNvPr id="25" name="Google Shape;217;p21">
            <a:extLst>
              <a:ext uri="{FF2B5EF4-FFF2-40B4-BE49-F238E27FC236}">
                <a16:creationId xmlns:a16="http://schemas.microsoft.com/office/drawing/2014/main" id="{F30FE0FE-41F8-DF62-F809-64287FD9093B}"/>
              </a:ext>
            </a:extLst>
          </p:cNvPr>
          <p:cNvSpPr/>
          <p:nvPr/>
        </p:nvSpPr>
        <p:spPr>
          <a:xfrm>
            <a:off x="687198" y="3668167"/>
            <a:ext cx="4890939" cy="4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marR="0" lvl="0" indent="-3429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Roboto"/>
              <a:buChar char="•"/>
            </a:pPr>
            <a:r>
              <a:rPr lang="en-US" sz="10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Integration of deep learning models (BERT, transformers)</a:t>
            </a:r>
            <a:endParaRPr lang="en-US" sz="1000" b="0" i="0" u="none" strike="noStrike" cap="none"/>
          </a:p>
          <a:p>
            <a:pPr marL="342900" marR="0" lvl="0" indent="-3429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Roboto"/>
              <a:buChar char="•"/>
            </a:pPr>
            <a:r>
              <a:rPr lang="en-US" sz="10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Semantic understanding beyond keyword matching</a:t>
            </a:r>
            <a:endParaRPr sz="1000" b="0" i="0" u="none" strike="noStrike" cap="none"/>
          </a:p>
          <a:p>
            <a:pPr marL="342900" marR="0" lvl="0" indent="-3429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Roboto"/>
              <a:buChar char="•"/>
            </a:pPr>
            <a:r>
              <a:rPr lang="en-US" sz="10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Resume quality scoring and feedback system</a:t>
            </a:r>
            <a:endParaRPr sz="1000" b="0" i="0" u="none" strike="noStrike" cap="none"/>
          </a:p>
          <a:p>
            <a:pPr marL="342900" marR="0" lvl="0" indent="-3429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Roboto"/>
              <a:buChar char="•"/>
            </a:pPr>
            <a:r>
              <a:rPr lang="en-US" sz="10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Multi-language support for international recruitment</a:t>
            </a:r>
            <a:endParaRPr sz="1000" b="0" i="0" u="none" strike="noStrike" cap="none"/>
          </a:p>
          <a:p>
            <a:pPr marL="342900" marR="0" lvl="0" indent="-3429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550"/>
              <a:buFont typeface="Roboto"/>
              <a:buChar char="•"/>
            </a:pPr>
            <a:r>
              <a:rPr lang="en-US" sz="100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Integration with applicant tracking systems (ATS)</a:t>
            </a:r>
            <a:endParaRPr sz="1000" b="0" i="0" u="none" strike="noStrike" cap="non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854C6A03-B7A5-4A7F-7080-8D5023997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>
            <a:extLst>
              <a:ext uri="{FF2B5EF4-FFF2-40B4-BE49-F238E27FC236}">
                <a16:creationId xmlns:a16="http://schemas.microsoft.com/office/drawing/2014/main" id="{26500852-8D7D-49D1-CD12-47BE261BC801}"/>
              </a:ext>
            </a:extLst>
          </p:cNvPr>
          <p:cNvSpPr/>
          <p:nvPr/>
        </p:nvSpPr>
        <p:spPr>
          <a:xfrm>
            <a:off x="674489" y="340742"/>
            <a:ext cx="2824237" cy="35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2200"/>
              <a:buFont typeface="Roboto Slab"/>
              <a:buNone/>
            </a:pPr>
            <a:r>
              <a:rPr lang="en-US" sz="2200" b="0" i="0" u="none" strike="noStrike" cap="non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Conclusion</a:t>
            </a:r>
            <a:endParaRPr sz="2200" b="0" i="0" u="none" strike="noStrike" cap="none"/>
          </a:p>
        </p:txBody>
      </p:sp>
      <p:sp>
        <p:nvSpPr>
          <p:cNvPr id="224" name="Google Shape;224;p22">
            <a:extLst>
              <a:ext uri="{FF2B5EF4-FFF2-40B4-BE49-F238E27FC236}">
                <a16:creationId xmlns:a16="http://schemas.microsoft.com/office/drawing/2014/main" id="{E2EECF5E-EB94-66C9-2A3B-582E1AC050B7}"/>
              </a:ext>
            </a:extLst>
          </p:cNvPr>
          <p:cNvSpPr/>
          <p:nvPr/>
        </p:nvSpPr>
        <p:spPr>
          <a:xfrm>
            <a:off x="843930" y="974899"/>
            <a:ext cx="7625507" cy="32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Roboto"/>
              <a:buNone/>
            </a:pPr>
            <a:r>
              <a:rPr lang="en-US" sz="8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The AI Resume Analyzer successfully demonstrates the application of NLP techniques to automate and enhance the recruitment screening process. By leveraging TF-IDF vectorization and cosine similarity, the system achieves high accuracy while significantly reducing processing time.</a:t>
            </a:r>
            <a:endParaRPr sz="850" b="0" i="0" u="none" strike="noStrike" cap="none"/>
          </a:p>
        </p:txBody>
      </p:sp>
      <p:sp>
        <p:nvSpPr>
          <p:cNvPr id="225" name="Google Shape;225;p22">
            <a:extLst>
              <a:ext uri="{FF2B5EF4-FFF2-40B4-BE49-F238E27FC236}">
                <a16:creationId xmlns:a16="http://schemas.microsoft.com/office/drawing/2014/main" id="{C99B8A53-29D3-ED08-1A6B-EE06FE132B4B}"/>
              </a:ext>
            </a:extLst>
          </p:cNvPr>
          <p:cNvSpPr/>
          <p:nvPr/>
        </p:nvSpPr>
        <p:spPr>
          <a:xfrm>
            <a:off x="674489" y="873696"/>
            <a:ext cx="14288" cy="527149"/>
          </a:xfrm>
          <a:prstGeom prst="rect">
            <a:avLst/>
          </a:prstGeom>
          <a:solidFill>
            <a:srgbClr val="66A8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2">
            <a:extLst>
              <a:ext uri="{FF2B5EF4-FFF2-40B4-BE49-F238E27FC236}">
                <a16:creationId xmlns:a16="http://schemas.microsoft.com/office/drawing/2014/main" id="{118AF204-12C1-420C-3AC5-923208DD4337}"/>
              </a:ext>
            </a:extLst>
          </p:cNvPr>
          <p:cNvSpPr/>
          <p:nvPr/>
        </p:nvSpPr>
        <p:spPr>
          <a:xfrm>
            <a:off x="674489" y="1502048"/>
            <a:ext cx="225921" cy="14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Roboto Slab"/>
              <a:buNone/>
            </a:pPr>
            <a:r>
              <a:rPr lang="en-US" sz="85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01</a:t>
            </a:r>
            <a:endParaRPr sz="850" b="0" i="0" u="none" strike="noStrike" cap="none"/>
          </a:p>
        </p:txBody>
      </p:sp>
      <p:pic>
        <p:nvPicPr>
          <p:cNvPr id="227" name="Google Shape;227;p22" descr="preencoded.png">
            <a:extLst>
              <a:ext uri="{FF2B5EF4-FFF2-40B4-BE49-F238E27FC236}">
                <a16:creationId xmlns:a16="http://schemas.microsoft.com/office/drawing/2014/main" id="{4C062EFF-EA7A-AC79-FD9C-503EE7E6FD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4489" y="1679674"/>
            <a:ext cx="3852490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>
            <a:extLst>
              <a:ext uri="{FF2B5EF4-FFF2-40B4-BE49-F238E27FC236}">
                <a16:creationId xmlns:a16="http://schemas.microsoft.com/office/drawing/2014/main" id="{D085A248-2A1F-875E-7C7B-065CDABAF91D}"/>
              </a:ext>
            </a:extLst>
          </p:cNvPr>
          <p:cNvSpPr/>
          <p:nvPr/>
        </p:nvSpPr>
        <p:spPr>
          <a:xfrm>
            <a:off x="679780" y="1706521"/>
            <a:ext cx="2719148" cy="20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 Slab"/>
              <a:buNone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Technical </a:t>
            </a:r>
            <a:r>
              <a:rPr lang="en-US" sz="11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Achievement</a:t>
            </a:r>
            <a:endParaRPr lang="en-US" sz="1100" b="0" i="0" u="none" strike="noStrike" cap="none">
              <a:ea typeface="Roboto Slab"/>
            </a:endParaRPr>
          </a:p>
        </p:txBody>
      </p:sp>
      <p:sp>
        <p:nvSpPr>
          <p:cNvPr id="229" name="Google Shape;229;p22">
            <a:extLst>
              <a:ext uri="{FF2B5EF4-FFF2-40B4-BE49-F238E27FC236}">
                <a16:creationId xmlns:a16="http://schemas.microsoft.com/office/drawing/2014/main" id="{035ECEFC-2966-EA27-5456-250584B18E07}"/>
              </a:ext>
            </a:extLst>
          </p:cNvPr>
          <p:cNvSpPr/>
          <p:nvPr/>
        </p:nvSpPr>
        <p:spPr>
          <a:xfrm>
            <a:off x="674489" y="1995190"/>
            <a:ext cx="3852490" cy="32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Roboto"/>
              <a:buNone/>
            </a:pPr>
            <a:r>
              <a:rPr lang="en-US" sz="8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Implemented </a:t>
            </a:r>
            <a:r>
              <a:rPr lang="en-US" sz="8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complete</a:t>
            </a:r>
            <a:r>
              <a:rPr lang="en-US" sz="8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NLP pipeline with preprocessing, vectorization, and similarity matching</a:t>
            </a:r>
            <a:endParaRPr sz="850" b="0" i="0" u="none" strike="noStrike" cap="none"/>
          </a:p>
        </p:txBody>
      </p:sp>
      <p:sp>
        <p:nvSpPr>
          <p:cNvPr id="230" name="Google Shape;230;p22">
            <a:extLst>
              <a:ext uri="{FF2B5EF4-FFF2-40B4-BE49-F238E27FC236}">
                <a16:creationId xmlns:a16="http://schemas.microsoft.com/office/drawing/2014/main" id="{EE2AC3CD-CCEA-0A84-455E-646E6C4A1972}"/>
              </a:ext>
            </a:extLst>
          </p:cNvPr>
          <p:cNvSpPr/>
          <p:nvPr/>
        </p:nvSpPr>
        <p:spPr>
          <a:xfrm>
            <a:off x="4616946" y="1502048"/>
            <a:ext cx="225921" cy="14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Roboto Slab"/>
              <a:buNone/>
            </a:pPr>
            <a:r>
              <a:rPr lang="en-US" sz="85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02</a:t>
            </a:r>
            <a:endParaRPr sz="850" b="0" i="0" u="none" strike="noStrike" cap="none"/>
          </a:p>
        </p:txBody>
      </p:sp>
      <p:pic>
        <p:nvPicPr>
          <p:cNvPr id="231" name="Google Shape;231;p22" descr="preencoded.png">
            <a:extLst>
              <a:ext uri="{FF2B5EF4-FFF2-40B4-BE49-F238E27FC236}">
                <a16:creationId xmlns:a16="http://schemas.microsoft.com/office/drawing/2014/main" id="{064CD6ED-BB28-C243-A916-15242E1E18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16946" y="1690911"/>
            <a:ext cx="3852490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>
            <a:extLst>
              <a:ext uri="{FF2B5EF4-FFF2-40B4-BE49-F238E27FC236}">
                <a16:creationId xmlns:a16="http://schemas.microsoft.com/office/drawing/2014/main" id="{7558FDB1-C499-01CD-4D7C-13DB20A77C20}"/>
              </a:ext>
            </a:extLst>
          </p:cNvPr>
          <p:cNvSpPr/>
          <p:nvPr/>
        </p:nvSpPr>
        <p:spPr>
          <a:xfrm>
            <a:off x="4616946" y="1764729"/>
            <a:ext cx="1412081" cy="176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 Slab"/>
              <a:buNone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Practical Application</a:t>
            </a:r>
            <a:endParaRPr sz="1100" b="0" i="0" u="none" strike="noStrike" cap="none"/>
          </a:p>
        </p:txBody>
      </p:sp>
      <p:sp>
        <p:nvSpPr>
          <p:cNvPr id="233" name="Google Shape;233;p22">
            <a:extLst>
              <a:ext uri="{FF2B5EF4-FFF2-40B4-BE49-F238E27FC236}">
                <a16:creationId xmlns:a16="http://schemas.microsoft.com/office/drawing/2014/main" id="{2BAA4A6C-21B6-5C25-8399-7CBA873D7FF3}"/>
              </a:ext>
            </a:extLst>
          </p:cNvPr>
          <p:cNvSpPr/>
          <p:nvPr/>
        </p:nvSpPr>
        <p:spPr>
          <a:xfrm>
            <a:off x="4616946" y="1995190"/>
            <a:ext cx="3852490" cy="16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Roboto"/>
              <a:buNone/>
            </a:pPr>
            <a:r>
              <a:rPr lang="en-US" sz="8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Created working system that addresses real-world recruitment challenges</a:t>
            </a:r>
            <a:endParaRPr sz="850" b="0" i="0" u="none" strike="noStrike" cap="none"/>
          </a:p>
        </p:txBody>
      </p:sp>
      <p:sp>
        <p:nvSpPr>
          <p:cNvPr id="234" name="Google Shape;234;p22">
            <a:extLst>
              <a:ext uri="{FF2B5EF4-FFF2-40B4-BE49-F238E27FC236}">
                <a16:creationId xmlns:a16="http://schemas.microsoft.com/office/drawing/2014/main" id="{66C56804-A975-A81B-9F0A-302ACE52E449}"/>
              </a:ext>
            </a:extLst>
          </p:cNvPr>
          <p:cNvSpPr/>
          <p:nvPr/>
        </p:nvSpPr>
        <p:spPr>
          <a:xfrm>
            <a:off x="674489" y="2494583"/>
            <a:ext cx="225921" cy="14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Roboto Slab"/>
              <a:buNone/>
            </a:pPr>
            <a:r>
              <a:rPr lang="en-US" sz="85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03</a:t>
            </a:r>
            <a:endParaRPr sz="850" b="0" i="0" u="none" strike="noStrike" cap="none"/>
          </a:p>
        </p:txBody>
      </p:sp>
      <p:pic>
        <p:nvPicPr>
          <p:cNvPr id="235" name="Google Shape;235;p22" descr="preencoded.png">
            <a:extLst>
              <a:ext uri="{FF2B5EF4-FFF2-40B4-BE49-F238E27FC236}">
                <a16:creationId xmlns:a16="http://schemas.microsoft.com/office/drawing/2014/main" id="{0434496B-6AF0-91FC-11DF-FCA5CE7DBB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4489" y="2660898"/>
            <a:ext cx="3852490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>
            <a:extLst>
              <a:ext uri="{FF2B5EF4-FFF2-40B4-BE49-F238E27FC236}">
                <a16:creationId xmlns:a16="http://schemas.microsoft.com/office/drawing/2014/main" id="{BB54CF05-1657-5D8C-FF28-A62D5875A429}"/>
              </a:ext>
            </a:extLst>
          </p:cNvPr>
          <p:cNvSpPr/>
          <p:nvPr/>
        </p:nvSpPr>
        <p:spPr>
          <a:xfrm>
            <a:off x="674489" y="2757264"/>
            <a:ext cx="1412081" cy="176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 Slab"/>
              <a:buNone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Scalable Solution</a:t>
            </a:r>
            <a:endParaRPr sz="1100" b="0" i="0" u="none" strike="noStrike" cap="none"/>
          </a:p>
        </p:txBody>
      </p:sp>
      <p:sp>
        <p:nvSpPr>
          <p:cNvPr id="237" name="Google Shape;237;p22">
            <a:extLst>
              <a:ext uri="{FF2B5EF4-FFF2-40B4-BE49-F238E27FC236}">
                <a16:creationId xmlns:a16="http://schemas.microsoft.com/office/drawing/2014/main" id="{2D474C1F-A657-7CD9-8B78-B7CF89C90FF8}"/>
              </a:ext>
            </a:extLst>
          </p:cNvPr>
          <p:cNvSpPr/>
          <p:nvPr/>
        </p:nvSpPr>
        <p:spPr>
          <a:xfrm>
            <a:off x="674489" y="2987725"/>
            <a:ext cx="3852490" cy="16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Roboto"/>
              <a:buNone/>
            </a:pPr>
            <a:r>
              <a:rPr lang="en-US" sz="8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Designed architecture that can handle increasing volumes of applications</a:t>
            </a:r>
            <a:endParaRPr sz="850" b="0" i="0" u="none" strike="noStrike" cap="none"/>
          </a:p>
        </p:txBody>
      </p:sp>
      <p:sp>
        <p:nvSpPr>
          <p:cNvPr id="238" name="Google Shape;238;p22">
            <a:extLst>
              <a:ext uri="{FF2B5EF4-FFF2-40B4-BE49-F238E27FC236}">
                <a16:creationId xmlns:a16="http://schemas.microsoft.com/office/drawing/2014/main" id="{DE4B60D4-E417-30CD-C49F-129666AAD4D8}"/>
              </a:ext>
            </a:extLst>
          </p:cNvPr>
          <p:cNvSpPr/>
          <p:nvPr/>
        </p:nvSpPr>
        <p:spPr>
          <a:xfrm>
            <a:off x="4616946" y="2494583"/>
            <a:ext cx="225921" cy="14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Roboto Slab"/>
              <a:buNone/>
            </a:pPr>
            <a:r>
              <a:rPr lang="en-US" sz="85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04</a:t>
            </a:r>
            <a:endParaRPr sz="850" b="0" i="0" u="none" strike="noStrike" cap="none"/>
          </a:p>
        </p:txBody>
      </p:sp>
      <p:pic>
        <p:nvPicPr>
          <p:cNvPr id="239" name="Google Shape;239;p22" descr="preencoded.png">
            <a:extLst>
              <a:ext uri="{FF2B5EF4-FFF2-40B4-BE49-F238E27FC236}">
                <a16:creationId xmlns:a16="http://schemas.microsoft.com/office/drawing/2014/main" id="{81B33CAB-F6A2-92DF-00E5-6C7A07200D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16946" y="2660898"/>
            <a:ext cx="3852490" cy="14288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>
            <a:extLst>
              <a:ext uri="{FF2B5EF4-FFF2-40B4-BE49-F238E27FC236}">
                <a16:creationId xmlns:a16="http://schemas.microsoft.com/office/drawing/2014/main" id="{A90E973E-3FEF-D24E-E04D-E2410FCC3BB4}"/>
              </a:ext>
            </a:extLst>
          </p:cNvPr>
          <p:cNvSpPr/>
          <p:nvPr/>
        </p:nvSpPr>
        <p:spPr>
          <a:xfrm>
            <a:off x="4616946" y="2757264"/>
            <a:ext cx="1456134" cy="176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 Slab"/>
              <a:buNone/>
            </a:pPr>
            <a:r>
              <a:rPr lang="en-US" sz="1100" b="0" i="0" u="none" strike="noStrike" cap="non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Foundation for Future</a:t>
            </a:r>
            <a:endParaRPr sz="1100" b="0" i="0" u="none" strike="noStrike" cap="none"/>
          </a:p>
        </p:txBody>
      </p:sp>
      <p:sp>
        <p:nvSpPr>
          <p:cNvPr id="241" name="Google Shape;241;p22">
            <a:extLst>
              <a:ext uri="{FF2B5EF4-FFF2-40B4-BE49-F238E27FC236}">
                <a16:creationId xmlns:a16="http://schemas.microsoft.com/office/drawing/2014/main" id="{590E9B5F-FDA4-2295-6294-0A777039F27E}"/>
              </a:ext>
            </a:extLst>
          </p:cNvPr>
          <p:cNvSpPr/>
          <p:nvPr/>
        </p:nvSpPr>
        <p:spPr>
          <a:xfrm>
            <a:off x="4616946" y="2987725"/>
            <a:ext cx="3852490" cy="16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Roboto"/>
              <a:buNone/>
            </a:pPr>
            <a:r>
              <a:rPr lang="en-US" sz="8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Established baseline for incorporating advanced AI techniques</a:t>
            </a:r>
            <a:endParaRPr sz="850" b="0" i="0" u="none" strike="noStrike" cap="none"/>
          </a:p>
        </p:txBody>
      </p:sp>
      <p:sp>
        <p:nvSpPr>
          <p:cNvPr id="242" name="Google Shape;242;p22">
            <a:extLst>
              <a:ext uri="{FF2B5EF4-FFF2-40B4-BE49-F238E27FC236}">
                <a16:creationId xmlns:a16="http://schemas.microsoft.com/office/drawing/2014/main" id="{6CB5146C-BEED-CD06-39FB-60F430945766}"/>
              </a:ext>
            </a:extLst>
          </p:cNvPr>
          <p:cNvSpPr/>
          <p:nvPr/>
        </p:nvSpPr>
        <p:spPr>
          <a:xfrm>
            <a:off x="674489" y="3341638"/>
            <a:ext cx="7794947" cy="8409"/>
          </a:xfrm>
          <a:prstGeom prst="rect">
            <a:avLst/>
          </a:prstGeom>
          <a:solidFill>
            <a:srgbClr val="D6E5EF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2">
            <a:extLst>
              <a:ext uri="{FF2B5EF4-FFF2-40B4-BE49-F238E27FC236}">
                <a16:creationId xmlns:a16="http://schemas.microsoft.com/office/drawing/2014/main" id="{605E38B9-0A83-944E-9DB4-7580F64CB937}"/>
              </a:ext>
            </a:extLst>
          </p:cNvPr>
          <p:cNvSpPr/>
          <p:nvPr/>
        </p:nvSpPr>
        <p:spPr>
          <a:xfrm>
            <a:off x="674489" y="3535784"/>
            <a:ext cx="5648474" cy="706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36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4400"/>
              <a:buFont typeface="Roboto Slab"/>
              <a:buNone/>
            </a:pPr>
            <a:r>
              <a:rPr lang="en-US" sz="4400" b="0" i="0" u="none" strike="noStrike" cap="non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Thank You</a:t>
            </a:r>
            <a:endParaRPr sz="4400" b="0" i="0" u="none" strike="noStrike" cap="none"/>
          </a:p>
        </p:txBody>
      </p:sp>
      <p:sp>
        <p:nvSpPr>
          <p:cNvPr id="244" name="Google Shape;244;p22">
            <a:extLst>
              <a:ext uri="{FF2B5EF4-FFF2-40B4-BE49-F238E27FC236}">
                <a16:creationId xmlns:a16="http://schemas.microsoft.com/office/drawing/2014/main" id="{EEDB227F-04D2-A87D-D287-3C942A8AEF10}"/>
              </a:ext>
            </a:extLst>
          </p:cNvPr>
          <p:cNvSpPr/>
          <p:nvPr/>
        </p:nvSpPr>
        <p:spPr>
          <a:xfrm>
            <a:off x="674489" y="4376812"/>
            <a:ext cx="7794947" cy="16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Roboto"/>
              <a:buNone/>
            </a:pPr>
            <a:r>
              <a:rPr lang="en-US" sz="8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Questions and Discussion Welcome</a:t>
            </a:r>
            <a:endParaRPr sz="850" b="0" i="0" u="none" strike="noStrike" cap="none"/>
          </a:p>
        </p:txBody>
      </p:sp>
      <p:sp>
        <p:nvSpPr>
          <p:cNvPr id="245" name="Google Shape;245;p22">
            <a:extLst>
              <a:ext uri="{FF2B5EF4-FFF2-40B4-BE49-F238E27FC236}">
                <a16:creationId xmlns:a16="http://schemas.microsoft.com/office/drawing/2014/main" id="{CC906AF0-CB7B-38F7-4EE0-BF62457EC8A5}"/>
              </a:ext>
            </a:extLst>
          </p:cNvPr>
          <p:cNvSpPr/>
          <p:nvPr/>
        </p:nvSpPr>
        <p:spPr>
          <a:xfrm>
            <a:off x="674489" y="4640387"/>
            <a:ext cx="7794947" cy="16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850"/>
              <a:buFont typeface="Roboto"/>
              <a:buNone/>
            </a:pPr>
            <a:r>
              <a:rPr lang="en-US" sz="850" b="1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Project by:</a:t>
            </a:r>
            <a:r>
              <a:rPr lang="en-US" sz="850" b="0" i="0" u="none" strike="noStrike" cap="non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B.Sc. Data Science and AI, IIT Guwahati</a:t>
            </a:r>
            <a:endParaRPr sz="850" b="0" i="0" u="none" strike="noStrike" cap="none"/>
          </a:p>
        </p:txBody>
      </p:sp>
    </p:spTree>
    <p:extLst>
      <p:ext uri="{BB962C8B-B14F-4D97-AF65-F5344CB8AC3E}">
        <p14:creationId xmlns:p14="http://schemas.microsoft.com/office/powerpoint/2010/main" val="850804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115</cp:revision>
  <dcterms:modified xsi:type="dcterms:W3CDTF">2026-05-09T19:44:40Z</dcterms:modified>
</cp:coreProperties>
</file>